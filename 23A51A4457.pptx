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autoCompressPictures="0" saveSubsetFonts="1">
  <p:sldMasterIdLst>
    <p:sldMasterId id="2147483648" r:id="rId1"/>
  </p:sldMasterIdLst>
  <p:notesMasterIdLst>
    <p:notesMasterId r:id="rId2"/>
  </p:notesMasterIdLst>
  <p:sldIdLst>
    <p:sldId id="257" r:id="rId3"/>
    <p:sldId id="258" r:id="rId4"/>
    <p:sldId id="259" r:id="rId5"/>
    <p:sldId id="260" r:id="rId6"/>
    <p:sldId id="261" r:id="rId7"/>
    <p:sldId id="262" r:id="rId8"/>
    <p:sldId id="263" r:id="rId9"/>
    <p:sldId id="264" r:id="rId10"/>
    <p:sldId id="265" r:id="rId11"/>
    <p:sldId id="266" r:id="rId12"/>
    <p:sldId id="268" r:id="rId13"/>
  </p:sldIdLst>
  <p:sldSz type="screen16x9" cy="6858000" cx="12192000"/>
  <p:notesSz cx="6858000" cy="12192000"/>
  <p:defaultTextStyle>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p:present/>
    <p:sldAll/>
    <p:penClr>
      <a:prstClr val="red"/>
    </p:penClr>
  </p:showPr>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horzBarState="maximized">
    <p:restoredLeft sz="15611"/>
    <p:restoredTop sz="94610"/>
  </p:normalViewPr>
  <p:slideViewPr>
    <p:cSldViewPr snapToGrid="0" snapToObjects="1">
      <p:cViewPr varScale="1">
        <p:scale>
          <a:sx n="85" d="100"/>
          <a:sy n="85" d="100"/>
        </p:scale>
        <p:origin x="864" y="67"/>
      </p:cViewPr>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tableStyles" Target="tableStyles.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49" name=""/>
        <p:cNvGrpSpPr/>
        <p:nvPr/>
      </p:nvGrpSpPr>
      <p:grpSpPr>
        <a:xfrm>
          <a:off x="0" y="0"/>
          <a:ext cx="0" cy="0"/>
          <a:chOff x="0" y="0"/>
          <a:chExt cx="0" cy="0"/>
        </a:xfrm>
      </p:grpSpPr>
    </p:spTree>
  </p:cSld>
  <p:clrMap accent1="accent1" accent2="accent2" accent3="accent3" accent4="accent4" accent5="accent5" accent6="accent6" bg1="lt1" bg2="lt2" tx1="dk1" tx2="dk2" hlink="hlink" folHlink="folHlink"/>
  <p:notesStyle>
    <a:lvl1pPr algn="l" defTabSz="914400" eaLnBrk="1" hangingPunct="1" latinLnBrk="0" marL="0" rtl="0">
      <a:defRPr sz="1200" kern="1200">
        <a:solidFill>
          <a:schemeClr val="tx1"/>
        </a:solidFill>
        <a:latin typeface="+mn-lt"/>
        <a:ea typeface="+mn-ea"/>
        <a:cs typeface="+mn-cs"/>
      </a:defRPr>
    </a:lvl1pPr>
    <a:lvl2pPr algn="l" defTabSz="914400" eaLnBrk="1" hangingPunct="1" latinLnBrk="0" marL="457200" rtl="0">
      <a:defRPr sz="1200" kern="1200">
        <a:solidFill>
          <a:schemeClr val="tx1"/>
        </a:solidFill>
        <a:latin typeface="+mn-lt"/>
        <a:ea typeface="+mn-ea"/>
        <a:cs typeface="+mn-cs"/>
      </a:defRPr>
    </a:lvl2pPr>
    <a:lvl3pPr algn="l" defTabSz="914400" eaLnBrk="1" hangingPunct="1" latinLnBrk="0" marL="914400" rtl="0">
      <a:defRPr sz="1200" kern="1200">
        <a:solidFill>
          <a:schemeClr val="tx1"/>
        </a:solidFill>
        <a:latin typeface="+mn-lt"/>
        <a:ea typeface="+mn-ea"/>
        <a:cs typeface="+mn-cs"/>
      </a:defRPr>
    </a:lvl3pPr>
    <a:lvl4pPr algn="l" defTabSz="914400" eaLnBrk="1" hangingPunct="1" latinLnBrk="0" marL="1371600" rtl="0">
      <a:defRPr sz="1200" kern="1200">
        <a:solidFill>
          <a:schemeClr val="tx1"/>
        </a:solidFill>
        <a:latin typeface="+mn-lt"/>
        <a:ea typeface="+mn-ea"/>
        <a:cs typeface="+mn-cs"/>
      </a:defRPr>
    </a:lvl4pPr>
    <a:lvl5pPr algn="l" defTabSz="914400" eaLnBrk="1" hangingPunct="1" latinLnBrk="0" marL="1828800" rtl="0">
      <a:defRPr sz="1200" kern="1200">
        <a:solidFill>
          <a:schemeClr val="tx1"/>
        </a:solidFill>
        <a:latin typeface="+mn-lt"/>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7" name=""/>
        <p:cNvGrpSpPr/>
        <p:nvPr/>
      </p:nvGrpSpPr>
      <p:grpSpPr>
        <a:xfrm>
          <a:off x="0" y="0"/>
          <a:ext cx="0" cy="0"/>
          <a:chOff x="0" y="0"/>
          <a:chExt cx="0" cy="0"/>
        </a:xfrm>
      </p:grpSpPr>
      <p:sp>
        <p:nvSpPr>
          <p:cNvPr id="1048582" name="Slide Image Placeholder 1"/>
          <p:cNvSpPr>
            <a:spLocks noChangeAspect="1" noRot="1" noGrp="1"/>
          </p:cNvSpPr>
          <p:nvPr>
            <p:ph type="sldImg"/>
          </p:nvPr>
        </p:nvSpPr>
        <p:spPr/>
      </p:sp>
      <p:sp>
        <p:nvSpPr>
          <p:cNvPr id="1048583" name="Notes Placeholder 2"/>
          <p:cNvSpPr>
            <a:spLocks noGrp="1"/>
          </p:cNvSpPr>
          <p:nvPr>
            <p:ph type="body" idx="1"/>
          </p:nvPr>
        </p:nvSpPr>
        <p:spPr/>
        <p:txBody>
          <a:bodyPr/>
          <a:p>
            <a:endParaRPr dirty="0" lang="en-US"/>
          </a:p>
        </p:txBody>
      </p:sp>
      <p:sp>
        <p:nvSpPr>
          <p:cNvPr id="1048584" name="Slide Number Placeholder 3"/>
          <p:cNvSpPr>
            <a:spLocks noGrp="1"/>
          </p:cNvSpPr>
          <p:nvPr>
            <p:ph type="sldNum" sz="quarter" idx="10"/>
          </p:nvPr>
        </p:nvSpPr>
        <p:spPr/>
        <p:txBody>
          <a:bodyPr/>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21" name=""/>
        <p:cNvGrpSpPr/>
        <p:nvPr/>
      </p:nvGrpSpPr>
      <p:grpSpPr>
        <a:xfrm>
          <a:off x="0" y="0"/>
          <a:ext cx="0" cy="0"/>
          <a:chOff x="0" y="0"/>
          <a:chExt cx="0" cy="0"/>
        </a:xfrm>
      </p:grpSpPr>
      <p:sp>
        <p:nvSpPr>
          <p:cNvPr id="1048588" name="Slide Image Placeholder 1"/>
          <p:cNvSpPr>
            <a:spLocks noChangeAspect="1" noRot="1" noGrp="1"/>
          </p:cNvSpPr>
          <p:nvPr>
            <p:ph type="sldImg"/>
          </p:nvPr>
        </p:nvSpPr>
        <p:spPr/>
      </p:sp>
      <p:sp>
        <p:nvSpPr>
          <p:cNvPr id="1048589" name="Notes Placeholder 2"/>
          <p:cNvSpPr>
            <a:spLocks noGrp="1"/>
          </p:cNvSpPr>
          <p:nvPr>
            <p:ph type="body" idx="1"/>
          </p:nvPr>
        </p:nvSpPr>
        <p:spPr/>
        <p:txBody>
          <a:bodyPr/>
          <a:p>
            <a:endParaRPr dirty="0" lang="en-US"/>
          </a:p>
        </p:txBody>
      </p:sp>
      <p:sp>
        <p:nvSpPr>
          <p:cNvPr id="1048590" name="Slide Number Placeholder 3"/>
          <p:cNvSpPr>
            <a:spLocks noGrp="1"/>
          </p:cNvSpPr>
          <p:nvPr>
            <p:ph type="sldNum" sz="quarter" idx="10"/>
          </p:nvPr>
        </p:nvSpPr>
        <p:spPr/>
        <p:txBody>
          <a:bodyPr/>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1048607" name="Slide Image Placeholder 1"/>
          <p:cNvSpPr>
            <a:spLocks noChangeAspect="1" noRot="1" noGrp="1"/>
          </p:cNvSpPr>
          <p:nvPr>
            <p:ph type="sldImg"/>
          </p:nvPr>
        </p:nvSpPr>
        <p:spPr/>
      </p:sp>
      <p:sp>
        <p:nvSpPr>
          <p:cNvPr id="1048608" name="Notes Placeholder 2"/>
          <p:cNvSpPr>
            <a:spLocks noGrp="1"/>
          </p:cNvSpPr>
          <p:nvPr>
            <p:ph type="body" idx="1"/>
          </p:nvPr>
        </p:nvSpPr>
        <p:spPr/>
        <p:txBody>
          <a:bodyPr/>
          <a:p>
            <a:endParaRPr dirty="0" lang="en-US"/>
          </a:p>
        </p:txBody>
      </p:sp>
      <p:sp>
        <p:nvSpPr>
          <p:cNvPr id="1048609" name="Slide Number Placeholder 3"/>
          <p:cNvSpPr>
            <a:spLocks noGrp="1"/>
          </p:cNvSpPr>
          <p:nvPr>
            <p:ph type="sldNum" sz="quarter" idx="10"/>
          </p:nvPr>
        </p:nvSpPr>
        <p:spPr/>
        <p:txBody>
          <a:bodyPr/>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27" name=""/>
        <p:cNvGrpSpPr/>
        <p:nvPr/>
      </p:nvGrpSpPr>
      <p:grpSpPr>
        <a:xfrm>
          <a:off x="0" y="0"/>
          <a:ext cx="0" cy="0"/>
          <a:chOff x="0" y="0"/>
          <a:chExt cx="0" cy="0"/>
        </a:xfrm>
      </p:grpSpPr>
      <p:sp>
        <p:nvSpPr>
          <p:cNvPr id="1048621" name="Slide Image Placeholder 1"/>
          <p:cNvSpPr>
            <a:spLocks noChangeAspect="1" noRot="1" noGrp="1"/>
          </p:cNvSpPr>
          <p:nvPr>
            <p:ph type="sldImg"/>
          </p:nvPr>
        </p:nvSpPr>
        <p:spPr/>
      </p:sp>
      <p:sp>
        <p:nvSpPr>
          <p:cNvPr id="1048622" name="Notes Placeholder 2"/>
          <p:cNvSpPr>
            <a:spLocks noGrp="1"/>
          </p:cNvSpPr>
          <p:nvPr>
            <p:ph type="body" idx="1"/>
          </p:nvPr>
        </p:nvSpPr>
        <p:spPr/>
        <p:txBody>
          <a:bodyPr/>
          <a:p>
            <a:endParaRPr dirty="0" lang="en-US"/>
          </a:p>
        </p:txBody>
      </p:sp>
      <p:sp>
        <p:nvSpPr>
          <p:cNvPr id="1048623" name="Slide Number Placeholder 3"/>
          <p:cNvSpPr>
            <a:spLocks noGrp="1"/>
          </p:cNvSpPr>
          <p:nvPr>
            <p:ph type="sldNum" sz="quarter" idx="10"/>
          </p:nvPr>
        </p:nvSpPr>
        <p:spPr/>
        <p:txBody>
          <a:bodyPr/>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30" name=""/>
        <p:cNvGrpSpPr/>
        <p:nvPr/>
      </p:nvGrpSpPr>
      <p:grpSpPr>
        <a:xfrm>
          <a:off x="0" y="0"/>
          <a:ext cx="0" cy="0"/>
          <a:chOff x="0" y="0"/>
          <a:chExt cx="0" cy="0"/>
        </a:xfrm>
      </p:grpSpPr>
      <p:sp>
        <p:nvSpPr>
          <p:cNvPr id="1048641" name="Slide Image Placeholder 1"/>
          <p:cNvSpPr>
            <a:spLocks noChangeAspect="1" noRot="1" noGrp="1"/>
          </p:cNvSpPr>
          <p:nvPr>
            <p:ph type="sldImg"/>
          </p:nvPr>
        </p:nvSpPr>
        <p:spPr/>
      </p:sp>
      <p:sp>
        <p:nvSpPr>
          <p:cNvPr id="1048642" name="Notes Placeholder 2"/>
          <p:cNvSpPr>
            <a:spLocks noGrp="1"/>
          </p:cNvSpPr>
          <p:nvPr>
            <p:ph type="body" idx="1"/>
          </p:nvPr>
        </p:nvSpPr>
        <p:spPr/>
        <p:txBody>
          <a:bodyPr/>
          <a:p>
            <a:endParaRPr dirty="0" lang="en-US"/>
          </a:p>
        </p:txBody>
      </p:sp>
      <p:sp>
        <p:nvSpPr>
          <p:cNvPr id="1048643" name="Slide Number Placeholder 3"/>
          <p:cNvSpPr>
            <a:spLocks noGrp="1"/>
          </p:cNvSpPr>
          <p:nvPr>
            <p:ph type="sldNum" sz="quarter" idx="10"/>
          </p:nvPr>
        </p:nvSpPr>
        <p:spPr/>
        <p:txBody>
          <a:bodyPr/>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33" name=""/>
        <p:cNvGrpSpPr/>
        <p:nvPr/>
      </p:nvGrpSpPr>
      <p:grpSpPr>
        <a:xfrm>
          <a:off x="0" y="0"/>
          <a:ext cx="0" cy="0"/>
          <a:chOff x="0" y="0"/>
          <a:chExt cx="0" cy="0"/>
        </a:xfrm>
      </p:grpSpPr>
      <p:sp>
        <p:nvSpPr>
          <p:cNvPr id="1048660" name="Slide Image Placeholder 1"/>
          <p:cNvSpPr>
            <a:spLocks noChangeAspect="1" noRot="1" noGrp="1"/>
          </p:cNvSpPr>
          <p:nvPr>
            <p:ph type="sldImg"/>
          </p:nvPr>
        </p:nvSpPr>
        <p:spPr/>
      </p:sp>
      <p:sp>
        <p:nvSpPr>
          <p:cNvPr id="1048661" name="Notes Placeholder 2"/>
          <p:cNvSpPr>
            <a:spLocks noGrp="1"/>
          </p:cNvSpPr>
          <p:nvPr>
            <p:ph type="body" idx="1"/>
          </p:nvPr>
        </p:nvSpPr>
        <p:spPr/>
        <p:txBody>
          <a:bodyPr/>
          <a:p>
            <a:endParaRPr dirty="0" lang="en-US"/>
          </a:p>
        </p:txBody>
      </p:sp>
      <p:sp>
        <p:nvSpPr>
          <p:cNvPr id="1048662" name="Slide Number Placeholder 3"/>
          <p:cNvSpPr>
            <a:spLocks noGrp="1"/>
          </p:cNvSpPr>
          <p:nvPr>
            <p:ph type="sldNum" sz="quarter" idx="10"/>
          </p:nvPr>
        </p:nvSpPr>
        <p:spPr/>
        <p:txBody>
          <a:bodyPr/>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36" name=""/>
        <p:cNvGrpSpPr/>
        <p:nvPr/>
      </p:nvGrpSpPr>
      <p:grpSpPr>
        <a:xfrm>
          <a:off x="0" y="0"/>
          <a:ext cx="0" cy="0"/>
          <a:chOff x="0" y="0"/>
          <a:chExt cx="0" cy="0"/>
        </a:xfrm>
      </p:grpSpPr>
      <p:sp>
        <p:nvSpPr>
          <p:cNvPr id="1048666" name="Slide Image Placeholder 1"/>
          <p:cNvSpPr>
            <a:spLocks noChangeAspect="1" noRot="1" noGrp="1"/>
          </p:cNvSpPr>
          <p:nvPr>
            <p:ph type="sldImg"/>
          </p:nvPr>
        </p:nvSpPr>
        <p:spPr/>
      </p:sp>
      <p:sp>
        <p:nvSpPr>
          <p:cNvPr id="1048667" name="Notes Placeholder 2"/>
          <p:cNvSpPr>
            <a:spLocks noGrp="1"/>
          </p:cNvSpPr>
          <p:nvPr>
            <p:ph type="body" idx="1"/>
          </p:nvPr>
        </p:nvSpPr>
        <p:spPr/>
        <p:txBody>
          <a:bodyPr/>
          <a:p>
            <a:endParaRPr dirty="0" lang="en-US"/>
          </a:p>
        </p:txBody>
      </p:sp>
      <p:sp>
        <p:nvSpPr>
          <p:cNvPr id="1048668" name="Slide Number Placeholder 3"/>
          <p:cNvSpPr>
            <a:spLocks noGrp="1"/>
          </p:cNvSpPr>
          <p:nvPr>
            <p:ph type="sldNum" sz="quarter" idx="10"/>
          </p:nvPr>
        </p:nvSpPr>
        <p:spPr/>
        <p:txBody>
          <a:bodyPr/>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39" name=""/>
        <p:cNvGrpSpPr/>
        <p:nvPr/>
      </p:nvGrpSpPr>
      <p:grpSpPr>
        <a:xfrm>
          <a:off x="0" y="0"/>
          <a:ext cx="0" cy="0"/>
          <a:chOff x="0" y="0"/>
          <a:chExt cx="0" cy="0"/>
        </a:xfrm>
      </p:grpSpPr>
      <p:sp>
        <p:nvSpPr>
          <p:cNvPr id="1048682" name="Slide Image Placeholder 1"/>
          <p:cNvSpPr>
            <a:spLocks noChangeAspect="1" noRot="1" noGrp="1"/>
          </p:cNvSpPr>
          <p:nvPr>
            <p:ph type="sldImg"/>
          </p:nvPr>
        </p:nvSpPr>
        <p:spPr/>
      </p:sp>
      <p:sp>
        <p:nvSpPr>
          <p:cNvPr id="1048683" name="Notes Placeholder 2"/>
          <p:cNvSpPr>
            <a:spLocks noGrp="1"/>
          </p:cNvSpPr>
          <p:nvPr>
            <p:ph type="body" idx="1"/>
          </p:nvPr>
        </p:nvSpPr>
        <p:spPr/>
        <p:txBody>
          <a:bodyPr/>
          <a:p>
            <a:endParaRPr dirty="0" lang="en-US"/>
          </a:p>
        </p:txBody>
      </p:sp>
      <p:sp>
        <p:nvSpPr>
          <p:cNvPr id="1048684" name="Slide Number Placeholder 3"/>
          <p:cNvSpPr>
            <a:spLocks noGrp="1"/>
          </p:cNvSpPr>
          <p:nvPr>
            <p:ph type="sldNum" sz="quarter" idx="10"/>
          </p:nvPr>
        </p:nvSpPr>
        <p:spPr/>
        <p:txBody>
          <a:bodyPr/>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42" name=""/>
        <p:cNvGrpSpPr/>
        <p:nvPr/>
      </p:nvGrpSpPr>
      <p:grpSpPr>
        <a:xfrm>
          <a:off x="0" y="0"/>
          <a:ext cx="0" cy="0"/>
          <a:chOff x="0" y="0"/>
          <a:chExt cx="0" cy="0"/>
        </a:xfrm>
      </p:grpSpPr>
      <p:sp>
        <p:nvSpPr>
          <p:cNvPr id="1048701" name="Slide Image Placeholder 1"/>
          <p:cNvSpPr>
            <a:spLocks noChangeAspect="1" noRot="1" noGrp="1"/>
          </p:cNvSpPr>
          <p:nvPr>
            <p:ph type="sldImg"/>
          </p:nvPr>
        </p:nvSpPr>
        <p:spPr/>
      </p:sp>
      <p:sp>
        <p:nvSpPr>
          <p:cNvPr id="1048702" name="Notes Placeholder 2"/>
          <p:cNvSpPr>
            <a:spLocks noGrp="1"/>
          </p:cNvSpPr>
          <p:nvPr>
            <p:ph type="body" idx="1"/>
          </p:nvPr>
        </p:nvSpPr>
        <p:spPr/>
        <p:txBody>
          <a:bodyPr/>
          <a:p>
            <a:endParaRPr dirty="0" lang="en-US"/>
          </a:p>
        </p:txBody>
      </p:sp>
      <p:sp>
        <p:nvSpPr>
          <p:cNvPr id="1048703" name="Slide Number Placeholder 3"/>
          <p:cNvSpPr>
            <a:spLocks noGrp="1"/>
          </p:cNvSpPr>
          <p:nvPr>
            <p:ph type="sldNum" sz="quarter" idx="10"/>
          </p:nvPr>
        </p:nvSpPr>
        <p:spPr/>
        <p:txBody>
          <a:bodyPr/>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45" name=""/>
        <p:cNvGrpSpPr/>
        <p:nvPr/>
      </p:nvGrpSpPr>
      <p:grpSpPr>
        <a:xfrm>
          <a:off x="0" y="0"/>
          <a:ext cx="0" cy="0"/>
          <a:chOff x="0" y="0"/>
          <a:chExt cx="0" cy="0"/>
        </a:xfrm>
      </p:grpSpPr>
      <p:sp>
        <p:nvSpPr>
          <p:cNvPr id="1048725" name="Slide Image Placeholder 1"/>
          <p:cNvSpPr>
            <a:spLocks noChangeAspect="1" noRot="1" noGrp="1"/>
          </p:cNvSpPr>
          <p:nvPr>
            <p:ph type="sldImg"/>
          </p:nvPr>
        </p:nvSpPr>
        <p:spPr/>
      </p:sp>
      <p:sp>
        <p:nvSpPr>
          <p:cNvPr id="1048726" name="Notes Placeholder 2"/>
          <p:cNvSpPr>
            <a:spLocks noGrp="1"/>
          </p:cNvSpPr>
          <p:nvPr>
            <p:ph type="body" idx="1"/>
          </p:nvPr>
        </p:nvSpPr>
        <p:spPr/>
        <p:txBody>
          <a:bodyPr/>
          <a:p>
            <a:endParaRPr dirty="0" lang="en-US"/>
          </a:p>
        </p:txBody>
      </p:sp>
      <p:sp>
        <p:nvSpPr>
          <p:cNvPr id="1048727" name="Slide Number Placeholder 3"/>
          <p:cNvSpPr>
            <a:spLocks noGrp="1"/>
          </p:cNvSpPr>
          <p:nvPr>
            <p:ph type="sldNum" sz="quarter" idx="10"/>
          </p:nvPr>
        </p:nvSpPr>
        <p:spPr/>
        <p:txBody>
          <a:bodyPr/>
          <a:p>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48" name=""/>
        <p:cNvGrpSpPr/>
        <p:nvPr/>
      </p:nvGrpSpPr>
      <p:grpSpPr>
        <a:xfrm>
          <a:off x="0" y="0"/>
          <a:ext cx="0" cy="0"/>
          <a:chOff x="0" y="0"/>
          <a:chExt cx="0" cy="0"/>
        </a:xfrm>
      </p:grpSpPr>
      <p:sp>
        <p:nvSpPr>
          <p:cNvPr id="1048732" name="Slide Image Placeholder 1"/>
          <p:cNvSpPr>
            <a:spLocks noChangeAspect="1" noRot="1" noGrp="1"/>
          </p:cNvSpPr>
          <p:nvPr>
            <p:ph type="sldImg"/>
          </p:nvPr>
        </p:nvSpPr>
        <p:spPr/>
      </p:sp>
      <p:sp>
        <p:nvSpPr>
          <p:cNvPr id="1048733" name="Notes Placeholder 2"/>
          <p:cNvSpPr>
            <a:spLocks noGrp="1"/>
          </p:cNvSpPr>
          <p:nvPr>
            <p:ph type="body" idx="1"/>
          </p:nvPr>
        </p:nvSpPr>
        <p:spPr/>
        <p:txBody>
          <a:bodyPr/>
          <a:p>
            <a:endParaRPr dirty="0" lang="en-US"/>
          </a:p>
        </p:txBody>
      </p:sp>
      <p:sp>
        <p:nvSpPr>
          <p:cNvPr id="1048734" name="Slide Number Placeholder 3"/>
          <p:cNvSpPr>
            <a:spLocks noGrp="1"/>
          </p:cNvSpPr>
          <p:nvPr>
            <p:ph type="sldNum" sz="quarter" idx="10"/>
          </p:nvPr>
        </p:nvSpPr>
        <p:spPr/>
        <p:txBody>
          <a:bodyPr/>
          <a:p>
            <a:fld id="{F7021451-1387-4CA6-816F-3879F97B5CBC}" type="slidenum">
              <a:rPr lang="en-US"/>
              <a:t>11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4"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2" name=""/>
        <p:cNvGrpSpPr/>
        <p:nvPr/>
      </p:nvGrpSpPr>
      <p:grpSpPr>
        <a:xfrm>
          <a:off x="0" y="0"/>
          <a:ext cx="0" cy="0"/>
          <a:chOff x="0" y="0"/>
          <a:chExt cx="0" cy="0"/>
        </a:xfrm>
      </p:grpSpPr>
    </p:spTree>
  </p:cSld>
  <p:clrMap accent1="accent1" accent2="accent2" accent3="accent3" accent4="accent4" accent5="accent5" accent6="accent6" bg1="lt1" bg2="lt2" tx1="dk1" tx2="dk2" hlink="hlink" folHlink="folHlink"/>
  <p:sldLayoutIdLst>
    <p:sldLayoutId id="2147483649" r:id="rId1"/>
  </p:sldLayoutIdLst>
  <p:hf dt="0" ftr="0" hdr="0" sldNum="0"/>
  <p:txStyles>
    <p:titleStyle>
      <a:lvl1pPr algn="ctr" defTabSz="914400" eaLnBrk="1" hangingPunct="1" latinLnBrk="0" rtl="0">
        <a:spcBef>
          <a:spcPct val="0"/>
        </a:spcBef>
        <a:buNone/>
        <a:defRPr sz="4400" kern="1200">
          <a:solidFill>
            <a:schemeClr val="tx1"/>
          </a:solidFill>
          <a:latin typeface="+mj-lt"/>
          <a:ea typeface="+mj-ea"/>
          <a:cs typeface="+mj-cs"/>
        </a:defRPr>
      </a:lvl1pPr>
    </p:titleStyle>
    <p:bodyStyle>
      <a:lvl1pPr algn="l" defTabSz="914400" eaLnBrk="1" hangingPunct="1" indent="-342900" latinLnBrk="0" marL="342900" rtl="0">
        <a:spcBef>
          <a:spcPct val="20000"/>
        </a:spcBef>
        <a:buFont typeface="Arial" pitchFamily="34" charset="0"/>
        <a:buChar char="•"/>
        <a:defRPr sz="3200" kern="1200">
          <a:solidFill>
            <a:schemeClr val="tx1"/>
          </a:solidFill>
          <a:latin typeface="+mn-lt"/>
          <a:ea typeface="+mn-ea"/>
          <a:cs typeface="+mn-cs"/>
        </a:defRPr>
      </a:lvl1pPr>
      <a:lvl2pPr algn="l" defTabSz="914400" eaLnBrk="1" hangingPunct="1" indent="-285750" latinLnBrk="0" marL="742950" rtl="0">
        <a:spcBef>
          <a:spcPct val="20000"/>
        </a:spcBef>
        <a:buFont typeface="Arial" pitchFamily="34" charset="0"/>
        <a:buChar char="–"/>
        <a:defRPr sz="2800" kern="1200">
          <a:solidFill>
            <a:schemeClr val="tx1"/>
          </a:solidFill>
          <a:latin typeface="+mn-lt"/>
          <a:ea typeface="+mn-ea"/>
          <a:cs typeface="+mn-cs"/>
        </a:defRPr>
      </a:lvl2pPr>
      <a:lvl3pPr algn="l" defTabSz="914400" eaLnBrk="1" hangingPunct="1" indent="-228600" latinLnBrk="0" marL="1143000" rtl="0">
        <a:spcBef>
          <a:spcPct val="20000"/>
        </a:spcBef>
        <a:buFont typeface="Arial" pitchFamily="34" charset="0"/>
        <a:buChar char="•"/>
        <a:defRPr sz="2400" kern="1200">
          <a:solidFill>
            <a:schemeClr val="tx1"/>
          </a:solidFill>
          <a:latin typeface="+mn-lt"/>
          <a:ea typeface="+mn-ea"/>
          <a:cs typeface="+mn-cs"/>
        </a:defRPr>
      </a:lvl3pPr>
      <a:lvl4pPr algn="l" defTabSz="914400" eaLnBrk="1" hangingPunct="1" indent="-228600" latinLnBrk="0" marL="1600200" rtl="0">
        <a:spcBef>
          <a:spcPct val="20000"/>
        </a:spcBef>
        <a:buFont typeface="Arial" pitchFamily="34" charset="0"/>
        <a:buChar char="–"/>
        <a:defRPr sz="2000" kern="1200">
          <a:solidFill>
            <a:schemeClr val="tx1"/>
          </a:solidFill>
          <a:latin typeface="+mn-lt"/>
          <a:ea typeface="+mn-ea"/>
          <a:cs typeface="+mn-cs"/>
        </a:defRPr>
      </a:lvl4pPr>
      <a:lvl5pPr algn="l" defTabSz="914400" eaLnBrk="1" hangingPunct="1" indent="-228600" latinLnBrk="0" marL="2057400" rtl="0">
        <a:spcBef>
          <a:spcPct val="20000"/>
        </a:spcBef>
        <a:buFont typeface="Arial" pitchFamily="34" charset="0"/>
        <a:buChar char="»"/>
        <a:defRPr sz="2000" kern="1200">
          <a:solidFill>
            <a:schemeClr val="tx1"/>
          </a:solidFill>
          <a:latin typeface="+mn-lt"/>
          <a:ea typeface="+mn-ea"/>
          <a:cs typeface="+mn-cs"/>
        </a:defRPr>
      </a:lvl5pPr>
      <a:lvl6pPr algn="l" defTabSz="914400" eaLnBrk="1" hangingPunct="1" indent="-228600" latinLnBrk="0" marL="2514600" rtl="0">
        <a:spcBef>
          <a:spcPct val="20000"/>
        </a:spcBef>
        <a:buFont typeface="Arial" pitchFamily="34" charset="0"/>
        <a:buChar char="•"/>
        <a:defRPr sz="2000" kern="1200">
          <a:solidFill>
            <a:schemeClr val="tx1"/>
          </a:solidFill>
          <a:latin typeface="+mn-lt"/>
          <a:ea typeface="+mn-ea"/>
          <a:cs typeface="+mn-cs"/>
        </a:defRPr>
      </a:lvl6pPr>
      <a:lvl7pPr algn="l" defTabSz="914400" eaLnBrk="1" hangingPunct="1" indent="-228600" latinLnBrk="0" marL="2971800" rtl="0">
        <a:spcBef>
          <a:spcPct val="20000"/>
        </a:spcBef>
        <a:buFont typeface="Arial" pitchFamily="34" charset="0"/>
        <a:buChar char="•"/>
        <a:defRPr sz="2000" kern="1200">
          <a:solidFill>
            <a:schemeClr val="tx1"/>
          </a:solidFill>
          <a:latin typeface="+mn-lt"/>
          <a:ea typeface="+mn-ea"/>
          <a:cs typeface="+mn-cs"/>
        </a:defRPr>
      </a:lvl7pPr>
      <a:lvl8pPr algn="l" defTabSz="914400" eaLnBrk="1" hangingPunct="1" indent="-228600" latinLnBrk="0" marL="3429000" rtl="0">
        <a:spcBef>
          <a:spcPct val="20000"/>
        </a:spcBef>
        <a:buFont typeface="Arial" pitchFamily="34" charset="0"/>
        <a:buChar char="•"/>
        <a:defRPr sz="2000" kern="1200">
          <a:solidFill>
            <a:schemeClr val="tx1"/>
          </a:solidFill>
          <a:latin typeface="+mn-lt"/>
          <a:ea typeface="+mn-ea"/>
          <a:cs typeface="+mn-cs"/>
        </a:defRPr>
      </a:lvl8pPr>
      <a:lvl9pPr algn="l" defTabSz="914400" eaLnBrk="1" hangingPunct="1" indent="-228600" latinLnBrk="0" marL="3886200" rtl="0">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image" Target="../media/image15.png"/><Relationship Id="rId11" Type="http://schemas.openxmlformats.org/officeDocument/2006/relationships/image" Target="../media/image16.png"/><Relationship Id="rId12" Type="http://schemas.openxmlformats.org/officeDocument/2006/relationships/image" Target="../media/image17.png"/><Relationship Id="rId13" Type="http://schemas.openxmlformats.org/officeDocument/2006/relationships/image" Target="../media/image18.png"/><Relationship Id="rId14" Type="http://schemas.openxmlformats.org/officeDocument/2006/relationships/image" Target="../media/image19.png"/><Relationship Id="rId15" Type="http://schemas.openxmlformats.org/officeDocument/2006/relationships/image" Target="../media/image20.jpeg"/><Relationship Id="rId16" Type="http://schemas.openxmlformats.org/officeDocument/2006/relationships/slideLayout" Target="../slideLayouts/slideLayout1.xml"/><Relationship Id="rId1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jpeg"/><Relationship Id="rId8" Type="http://schemas.openxmlformats.org/officeDocument/2006/relationships/image" Target="../media/image28.jpeg"/><Relationship Id="rId9" Type="http://schemas.openxmlformats.org/officeDocument/2006/relationships/image" Target="../media/image29.jpeg"/><Relationship Id="rId10" Type="http://schemas.openxmlformats.org/officeDocument/2006/relationships/slideLayout" Target="../slideLayouts/slideLayout1.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30.jpe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34.jpeg"/><Relationship Id="rId8" Type="http://schemas.openxmlformats.org/officeDocument/2006/relationships/slideLayout" Target="../slideLayouts/slideLayout1.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35.png"/><Relationship Id="rId2" Type="http://schemas.openxmlformats.org/officeDocument/2006/relationships/image" Target="../media/image36.png"/><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image" Target="../media/image39.png"/><Relationship Id="rId6" Type="http://schemas.openxmlformats.org/officeDocument/2006/relationships/image" Target="../media/image40.png"/><Relationship Id="rId7" Type="http://schemas.openxmlformats.org/officeDocument/2006/relationships/image" Target="../media/image41.jpe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42.png"/><Relationship Id="rId2" Type="http://schemas.openxmlformats.org/officeDocument/2006/relationships/image" Target="../media/image43.png"/><Relationship Id="rId3" Type="http://schemas.openxmlformats.org/officeDocument/2006/relationships/image" Target="../media/image44.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45.jpeg"/><Relationship Id="rId8" Type="http://schemas.openxmlformats.org/officeDocument/2006/relationships/image" Target="../media/image46.jpeg"/><Relationship Id="rId9" Type="http://schemas.openxmlformats.org/officeDocument/2006/relationships/image" Target="../media/image47.jpeg"/><Relationship Id="rId10" Type="http://schemas.openxmlformats.org/officeDocument/2006/relationships/slideLayout" Target="../slideLayouts/slideLayout1.xml"/><Relationship Id="rId1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48.png"/><Relationship Id="rId2" Type="http://schemas.openxmlformats.org/officeDocument/2006/relationships/image" Target="../media/image49.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50.png"/><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image" Target="../media/image54.png"/><Relationship Id="rId6" Type="http://schemas.openxmlformats.org/officeDocument/2006/relationships/image" Target="../media/image55.png"/><Relationship Id="rId7" Type="http://schemas.openxmlformats.org/officeDocument/2006/relationships/image" Target="../media/image56.png"/><Relationship Id="rId8" Type="http://schemas.openxmlformats.org/officeDocument/2006/relationships/image" Target="../media/image57.png"/><Relationship Id="rId9" Type="http://schemas.openxmlformats.org/officeDocument/2006/relationships/image" Target="../media/image58.png"/><Relationship Id="rId10" Type="http://schemas.openxmlformats.org/officeDocument/2006/relationships/image" Target="../media/image59.png"/><Relationship Id="rId11" Type="http://schemas.openxmlformats.org/officeDocument/2006/relationships/image" Target="../media/image60.png"/><Relationship Id="rId12" Type="http://schemas.openxmlformats.org/officeDocument/2006/relationships/slideLayout" Target="../slideLayouts/slideLayout1.xml"/><Relationship Id="rId1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5FA"/>
        </a:solidFill>
        <a:effectLst/>
      </p:bgPr>
    </p:bg>
    <p:spTree>
      <p:nvGrpSpPr>
        <p:cNvPr id="15" name=""/>
        <p:cNvGrpSpPr/>
        <p:nvPr/>
      </p:nvGrpSpPr>
      <p:grpSpPr>
        <a:xfrm>
          <a:off x="0" y="0"/>
          <a:ext cx="0" cy="0"/>
          <a:chOff x="0" y="0"/>
          <a:chExt cx="0" cy="0"/>
        </a:xfrm>
      </p:grpSpPr>
      <p:pic>
        <p:nvPicPr>
          <p:cNvPr id="2097152" name="Image 0" descr="preencoded.png"/>
          <p:cNvPicPr>
            <a:picLocks noChangeAspect="1"/>
          </p:cNvPicPr>
          <p:nvPr/>
        </p:nvPicPr>
        <p:blipFill>
          <a:blip xmlns:r="http://schemas.openxmlformats.org/officeDocument/2006/relationships" r:embed="rId1"/>
          <a:stretch>
            <a:fillRect/>
          </a:stretch>
        </p:blipFill>
        <p:spPr>
          <a:xfrm>
            <a:off x="0" y="0"/>
            <a:ext cx="12145975" cy="6812280"/>
          </a:xfrm>
          <a:prstGeom prst="rect"/>
        </p:spPr>
      </p:pic>
      <p:pic>
        <p:nvPicPr>
          <p:cNvPr id="2097153" name="Image 1" descr="preencoded.png"/>
          <p:cNvPicPr>
            <a:picLocks noChangeAspect="1"/>
          </p:cNvPicPr>
          <p:nvPr/>
        </p:nvPicPr>
        <p:blipFill>
          <a:blip xmlns:r="http://schemas.openxmlformats.org/officeDocument/2006/relationships" r:embed="rId2"/>
          <a:stretch>
            <a:fillRect/>
          </a:stretch>
        </p:blipFill>
        <p:spPr>
          <a:xfrm>
            <a:off x="-1523962" y="-1015975"/>
            <a:ext cx="6603835" cy="6603835"/>
          </a:xfrm>
          <a:prstGeom prst="rect"/>
        </p:spPr>
      </p:pic>
      <p:pic>
        <p:nvPicPr>
          <p:cNvPr id="2097154" name="Image 2" descr="preencoded.png"/>
          <p:cNvPicPr>
            <a:picLocks noChangeAspect="1"/>
          </p:cNvPicPr>
          <p:nvPr/>
        </p:nvPicPr>
        <p:blipFill>
          <a:blip xmlns:r="http://schemas.openxmlformats.org/officeDocument/2006/relationships" r:embed="rId3"/>
          <a:stretch>
            <a:fillRect/>
          </a:stretch>
        </p:blipFill>
        <p:spPr>
          <a:xfrm>
            <a:off x="0" y="5206870"/>
            <a:ext cx="12145975" cy="1605410"/>
          </a:xfrm>
          <a:prstGeom prst="rect"/>
        </p:spPr>
      </p:pic>
      <p:pic>
        <p:nvPicPr>
          <p:cNvPr id="2097155" name="Image 3" descr="preencoded.png"/>
          <p:cNvPicPr>
            <a:picLocks noChangeAspect="1"/>
          </p:cNvPicPr>
          <p:nvPr/>
        </p:nvPicPr>
        <p:blipFill>
          <a:blip xmlns:r="http://schemas.openxmlformats.org/officeDocument/2006/relationships" r:embed="rId4"/>
          <a:stretch>
            <a:fillRect/>
          </a:stretch>
        </p:blipFill>
        <p:spPr>
          <a:xfrm>
            <a:off x="9143771" y="4063898"/>
            <a:ext cx="3002204" cy="2748382"/>
          </a:xfrm>
          <a:prstGeom prst="rect"/>
        </p:spPr>
      </p:pic>
      <p:pic>
        <p:nvPicPr>
          <p:cNvPr id="2097156" name="Image 4" descr="preencoded.png"/>
          <p:cNvPicPr>
            <a:picLocks noChangeAspect="1"/>
          </p:cNvPicPr>
          <p:nvPr/>
        </p:nvPicPr>
        <p:blipFill>
          <a:blip xmlns:r="http://schemas.openxmlformats.org/officeDocument/2006/relationships" r:embed="rId5"/>
          <a:stretch>
            <a:fillRect/>
          </a:stretch>
        </p:blipFill>
        <p:spPr>
          <a:xfrm>
            <a:off x="3809905" y="2717732"/>
            <a:ext cx="4571886" cy="76198"/>
          </a:xfrm>
          <a:prstGeom prst="rect"/>
        </p:spPr>
      </p:pic>
      <p:sp>
        <p:nvSpPr>
          <p:cNvPr id="1048576" name="Text 0"/>
          <p:cNvSpPr/>
          <p:nvPr/>
        </p:nvSpPr>
        <p:spPr>
          <a:xfrm>
            <a:off x="1015975" y="1904952"/>
            <a:ext cx="9905752" cy="2285943"/>
          </a:xfrm>
          <a:prstGeom prst="rect"/>
          <a:noFill/>
        </p:spPr>
        <p:txBody>
          <a:bodyPr anchor="t" bIns="1016" lIns="1016" rIns="1016" rtlCol="0" tIns="1016" wrap="square"/>
          <a:p>
            <a:pPr algn="l" indent="0" marL="0">
              <a:lnSpc>
                <a:spcPct val="130000"/>
              </a:lnSpc>
              <a:buNone/>
            </a:pPr>
            <a:r>
              <a:rPr b="1" dirty="0" sz="4100" lang="en-US">
                <a:solidFill>
                  <a:srgbClr val="1A1F36"/>
                </a:solidFill>
                <a:latin typeface="Calibri" pitchFamily="34" charset="0"/>
                <a:ea typeface="Calibri" pitchFamily="34" charset="-122"/>
                <a:cs typeface="Calibri" pitchFamily="34" charset="-120"/>
              </a:rPr>
              <a:t>Business Intelligence &amp; Interactive Data Visualization Using Microsoft Power BI</a:t>
            </a:r>
            <a:r>
              <a:rPr dirty="0" sz="4100" lang="en-US">
                <a:solidFill>
                  <a:srgbClr val="1A1F36"/>
                </a:solidFill>
                <a:latin typeface="Calibri" pitchFamily="34" charset="0"/>
                <a:ea typeface="Calibri" pitchFamily="34" charset="-122"/>
                <a:cs typeface="Calibri" pitchFamily="34" charset="-120"/>
              </a:rPr>
              <a:t>
</a:t>
            </a:r>
            <a:endParaRPr dirty="0" sz="4100" lang="en-US"/>
          </a:p>
        </p:txBody>
      </p:sp>
      <p:sp>
        <p:nvSpPr>
          <p:cNvPr id="1048577" name="Text 1"/>
          <p:cNvSpPr/>
          <p:nvPr/>
        </p:nvSpPr>
        <p:spPr>
          <a:xfrm>
            <a:off x="1015975" y="7238819"/>
            <a:ext cx="3809905" cy="380990"/>
          </a:xfrm>
          <a:prstGeom prst="rect"/>
          <a:noFill/>
        </p:spPr>
        <p:txBody>
          <a:bodyPr anchor="t" bIns="1016" lIns="1016" rIns="1016" rtlCol="0" tIns="1016" wrap="square"/>
          <a:p>
            <a:pPr algn="l" indent="0" marL="0">
              <a:lnSpc>
                <a:spcPct val="130000"/>
              </a:lnSpc>
              <a:buNone/>
            </a:pPr>
            <a:r>
              <a:rPr dirty="0" sz="1400" lang="en-US">
                <a:solidFill>
                  <a:srgbClr val="2B3150"/>
                </a:solidFill>
                <a:latin typeface="Calibri" pitchFamily="34" charset="0"/>
                <a:ea typeface="Calibri" pitchFamily="34" charset="-122"/>
                <a:cs typeface="Calibri" pitchFamily="34" charset="-120"/>
              </a:rPr>
              <a:t>23A51A4457 VANAPALLI KANAKAVARSHINI
</a:t>
            </a:r>
            <a:endParaRPr dirty="0" sz="1400" lang="en-US"/>
          </a:p>
        </p:txBody>
      </p:sp>
      <p:sp>
        <p:nvSpPr>
          <p:cNvPr id="1048578" name="Text 2"/>
          <p:cNvSpPr/>
          <p:nvPr/>
        </p:nvSpPr>
        <p:spPr>
          <a:xfrm>
            <a:off x="1015975" y="6908627"/>
            <a:ext cx="5333867" cy="380990"/>
          </a:xfrm>
          <a:prstGeom prst="rect"/>
          <a:noFill/>
        </p:spPr>
        <p:txBody>
          <a:bodyPr anchor="t" bIns="1016" lIns="1016" rIns="1016" rtlCol="0" tIns="1016" wrap="square"/>
          <a:p>
            <a:pPr algn="l" indent="0" marL="0">
              <a:lnSpc>
                <a:spcPct val="130000"/>
              </a:lnSpc>
              <a:buNone/>
            </a:pPr>
            <a:r>
              <a:rPr dirty="0" sz="1200" lang="en-US">
                <a:solidFill>
                  <a:srgbClr val="5B3FD6"/>
                </a:solidFill>
                <a:latin typeface="Calibri" pitchFamily="34" charset="0"/>
                <a:ea typeface="Calibri" pitchFamily="34" charset="-122"/>
                <a:cs typeface="Calibri" pitchFamily="34" charset="-120"/>
              </a:rPr>
              <a:t>Your Organization
</a:t>
            </a:r>
            <a:endParaRPr dirty="0" sz="1200" lang="en-US"/>
          </a:p>
        </p:txBody>
      </p:sp>
      <p:sp>
        <p:nvSpPr>
          <p:cNvPr id="1048579" name="Text 3"/>
          <p:cNvSpPr/>
          <p:nvPr/>
        </p:nvSpPr>
        <p:spPr>
          <a:xfrm>
            <a:off x="4952876" y="7264218"/>
            <a:ext cx="3047924" cy="380990"/>
          </a:xfrm>
          <a:prstGeom prst="rect"/>
          <a:noFill/>
        </p:spPr>
        <p:txBody>
          <a:bodyPr anchor="t" bIns="1016" lIns="1016" rIns="1016" rtlCol="0" tIns="1016" wrap="square"/>
          <a:p>
            <a:pPr algn="l" indent="0" marL="0">
              <a:lnSpc>
                <a:spcPct val="130000"/>
              </a:lnSpc>
              <a:buNone/>
            </a:pPr>
            <a:r>
              <a:rPr dirty="0" sz="1200" lang="en-US">
                <a:solidFill>
                  <a:srgbClr val="5C6480"/>
                </a:solidFill>
                <a:latin typeface="Calibri" pitchFamily="34" charset="0"/>
                <a:ea typeface="Calibri" pitchFamily="34" charset="-122"/>
                <a:cs typeface="Calibri" pitchFamily="34" charset="-120"/>
              </a:rPr>
              <a:t>October 09, 2026
</a:t>
            </a:r>
            <a:endParaRPr dirty="0" sz="1200" lang="en-US"/>
          </a:p>
        </p:txBody>
      </p:sp>
      <p:sp>
        <p:nvSpPr>
          <p:cNvPr id="1048580" name="Shape 4"/>
          <p:cNvSpPr/>
          <p:nvPr/>
        </p:nvSpPr>
        <p:spPr>
          <a:xfrm>
            <a:off x="1015975" y="1600160"/>
            <a:ext cx="711182" cy="63498"/>
          </a:xfrm>
          <a:prstGeom prst="rect"/>
          <a:solidFill>
            <a:srgbClr val="5B3FD6"/>
          </a:solidFill>
        </p:spPr>
      </p:sp>
      <p:sp>
        <p:nvSpPr>
          <p:cNvPr id="1048581" name="TextBox 13"/>
          <p:cNvSpPr txBox="1"/>
          <p:nvPr/>
        </p:nvSpPr>
        <p:spPr>
          <a:xfrm>
            <a:off x="5952565" y="3908612"/>
            <a:ext cx="5827059" cy="1158240"/>
          </a:xfrm>
          <a:prstGeom prst="rect"/>
          <a:noFill/>
        </p:spPr>
        <p:txBody>
          <a:bodyPr rtlCol="0" wrap="square">
            <a:spAutoFit/>
          </a:bodyPr>
          <a:p>
            <a:r>
              <a:rPr dirty="0" lang="en-US"/>
              <a:t>Presented by:</a:t>
            </a:r>
          </a:p>
          <a:p>
            <a:r>
              <a:rPr dirty="0" lang="en-US" err="1"/>
              <a:t>Vanapalli</a:t>
            </a:r>
            <a:r>
              <a:rPr dirty="0" lang="en-US"/>
              <a:t>. </a:t>
            </a:r>
            <a:r>
              <a:rPr dirty="0" lang="en-US" err="1"/>
              <a:t>Kanakavarshini</a:t>
            </a:r>
            <a:br>
              <a:rPr dirty="0" lang="en-US"/>
            </a:br>
            <a:r>
              <a:rPr dirty="0" lang="en-US"/>
              <a:t>23A51A4457</a:t>
            </a:r>
            <a:br>
              <a:rPr dirty="0" lang="en-US"/>
            </a:br>
            <a:r>
              <a:rPr dirty="0" lang="en-US"/>
              <a:t>Computer Science and Engineering(</a:t>
            </a:r>
            <a:r>
              <a:rPr dirty="0" lang="en-US" err="1"/>
              <a:t>DataScience</a:t>
            </a:r>
            <a:r>
              <a:rPr dirty="0" lang="en-US"/>
              <a:t>)</a:t>
            </a:r>
            <a:endParaRPr dirty="0"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FA"/>
        </a:solidFill>
        <a:effectLst/>
      </p:bgPr>
    </p:bg>
    <p:spTree>
      <p:nvGrpSpPr>
        <p:cNvPr id="19" name=""/>
        <p:cNvGrpSpPr/>
        <p:nvPr/>
      </p:nvGrpSpPr>
      <p:grpSpPr>
        <a:xfrm>
          <a:off x="0" y="0"/>
          <a:ext cx="0" cy="0"/>
          <a:chOff x="0" y="0"/>
          <a:chExt cx="0" cy="0"/>
        </a:xfrm>
      </p:grpSpPr>
      <p:pic>
        <p:nvPicPr>
          <p:cNvPr id="2097157" name="Image 0" descr="preencoded.png"/>
          <p:cNvPicPr>
            <a:picLocks noChangeAspect="1"/>
          </p:cNvPicPr>
          <p:nvPr/>
        </p:nvPicPr>
        <p:blipFill>
          <a:blip xmlns:r="http://schemas.openxmlformats.org/officeDocument/2006/relationships" r:embed="rId1"/>
          <a:stretch>
            <a:fillRect/>
          </a:stretch>
        </p:blipFill>
        <p:spPr>
          <a:xfrm>
            <a:off x="0" y="4825879"/>
            <a:ext cx="12145975" cy="1986401"/>
          </a:xfrm>
          <a:prstGeom prst="rect"/>
        </p:spPr>
      </p:pic>
      <p:pic>
        <p:nvPicPr>
          <p:cNvPr id="2097158" name="Image 1" descr="preencoded.png"/>
          <p:cNvPicPr>
            <a:picLocks noChangeAspect="1"/>
          </p:cNvPicPr>
          <p:nvPr/>
        </p:nvPicPr>
        <p:blipFill>
          <a:blip xmlns:r="http://schemas.openxmlformats.org/officeDocument/2006/relationships" r:embed="rId2"/>
          <a:stretch>
            <a:fillRect/>
          </a:stretch>
        </p:blipFill>
        <p:spPr>
          <a:xfrm>
            <a:off x="2539937" y="-1904952"/>
            <a:ext cx="7111822" cy="7111822"/>
          </a:xfrm>
          <a:prstGeom prst="rect"/>
        </p:spPr>
      </p:pic>
      <p:pic>
        <p:nvPicPr>
          <p:cNvPr id="2097159" name="Image 2" descr="preencoded.png"/>
          <p:cNvPicPr>
            <a:picLocks noChangeAspect="1"/>
          </p:cNvPicPr>
          <p:nvPr/>
        </p:nvPicPr>
        <p:blipFill>
          <a:blip xmlns:r="http://schemas.openxmlformats.org/officeDocument/2006/relationships" r:embed="rId3"/>
          <a:stretch>
            <a:fillRect/>
          </a:stretch>
        </p:blipFill>
        <p:spPr>
          <a:xfrm>
            <a:off x="5714857" y="-1523962"/>
            <a:ext cx="6431118" cy="8336242"/>
          </a:xfrm>
          <a:prstGeom prst="rect"/>
        </p:spPr>
      </p:pic>
      <p:pic>
        <p:nvPicPr>
          <p:cNvPr id="2097160" name="Image 3" descr="preencoded.png"/>
          <p:cNvPicPr>
            <a:picLocks noChangeAspect="1"/>
          </p:cNvPicPr>
          <p:nvPr/>
        </p:nvPicPr>
        <p:blipFill>
          <a:blip xmlns:r="http://schemas.openxmlformats.org/officeDocument/2006/relationships" r:embed="rId4"/>
          <a:stretch>
            <a:fillRect/>
          </a:stretch>
        </p:blipFill>
        <p:spPr>
          <a:xfrm>
            <a:off x="-1904952" y="-1015975"/>
            <a:ext cx="9524762" cy="7828255"/>
          </a:xfrm>
          <a:prstGeom prst="rect"/>
        </p:spPr>
      </p:pic>
      <p:pic>
        <p:nvPicPr>
          <p:cNvPr id="2097161" name="Image 4" descr="preencoded.png"/>
          <p:cNvPicPr>
            <a:picLocks noChangeAspect="1"/>
          </p:cNvPicPr>
          <p:nvPr/>
        </p:nvPicPr>
        <p:blipFill>
          <a:blip xmlns:r="http://schemas.openxmlformats.org/officeDocument/2006/relationships" r:embed="rId5"/>
          <a:stretch>
            <a:fillRect/>
          </a:stretch>
        </p:blipFill>
        <p:spPr>
          <a:xfrm>
            <a:off x="1269968" y="3047924"/>
            <a:ext cx="6349841" cy="1015975"/>
          </a:xfrm>
          <a:prstGeom prst="rect"/>
        </p:spPr>
      </p:pic>
      <p:pic>
        <p:nvPicPr>
          <p:cNvPr id="2097162" name="Image 5" descr="preencoded.png"/>
          <p:cNvPicPr>
            <a:picLocks noChangeAspect="1"/>
          </p:cNvPicPr>
          <p:nvPr/>
        </p:nvPicPr>
        <p:blipFill>
          <a:blip xmlns:r="http://schemas.openxmlformats.org/officeDocument/2006/relationships" r:embed="rId6"/>
          <a:stretch>
            <a:fillRect/>
          </a:stretch>
        </p:blipFill>
        <p:spPr>
          <a:xfrm>
            <a:off x="-761981" y="3555911"/>
            <a:ext cx="4063898" cy="3256369"/>
          </a:xfrm>
          <a:prstGeom prst="rect"/>
        </p:spPr>
      </p:pic>
      <p:pic>
        <p:nvPicPr>
          <p:cNvPr id="2097163" name="Image 6" descr="preencoded.png"/>
          <p:cNvPicPr>
            <a:picLocks noChangeAspect="1"/>
          </p:cNvPicPr>
          <p:nvPr/>
        </p:nvPicPr>
        <p:blipFill>
          <a:blip xmlns:r="http://schemas.openxmlformats.org/officeDocument/2006/relationships" r:embed="rId7"/>
          <a:stretch>
            <a:fillRect/>
          </a:stretch>
        </p:blipFill>
        <p:spPr>
          <a:xfrm>
            <a:off x="6095848" y="0"/>
            <a:ext cx="6050128" cy="6603835"/>
          </a:xfrm>
          <a:prstGeom prst="rect"/>
        </p:spPr>
      </p:pic>
      <p:pic>
        <p:nvPicPr>
          <p:cNvPr id="2097164" name="Image 7" descr="preencoded.png"/>
          <p:cNvPicPr>
            <a:picLocks noChangeAspect="1"/>
          </p:cNvPicPr>
          <p:nvPr/>
        </p:nvPicPr>
        <p:blipFill>
          <a:blip xmlns:r="http://schemas.openxmlformats.org/officeDocument/2006/relationships" r:embed="rId8"/>
          <a:stretch>
            <a:fillRect/>
          </a:stretch>
        </p:blipFill>
        <p:spPr>
          <a:xfrm>
            <a:off x="4825879" y="4571886"/>
            <a:ext cx="2158946" cy="2158946"/>
          </a:xfrm>
          <a:prstGeom prst="rect"/>
        </p:spPr>
      </p:pic>
      <p:pic>
        <p:nvPicPr>
          <p:cNvPr id="2097165" name="Image 8" descr="preencoded.png"/>
          <p:cNvPicPr>
            <a:picLocks noChangeAspect="1"/>
          </p:cNvPicPr>
          <p:nvPr/>
        </p:nvPicPr>
        <p:blipFill>
          <a:blip xmlns:r="http://schemas.openxmlformats.org/officeDocument/2006/relationships" r:embed="rId9"/>
          <a:stretch>
            <a:fillRect/>
          </a:stretch>
        </p:blipFill>
        <p:spPr>
          <a:xfrm>
            <a:off x="507987" y="2539937"/>
            <a:ext cx="2285943" cy="2285943"/>
          </a:xfrm>
          <a:prstGeom prst="rect"/>
        </p:spPr>
      </p:pic>
      <p:pic>
        <p:nvPicPr>
          <p:cNvPr id="2097166" name="Image 9" descr="preencoded.png"/>
          <p:cNvPicPr>
            <a:picLocks noChangeAspect="1"/>
          </p:cNvPicPr>
          <p:nvPr/>
        </p:nvPicPr>
        <p:blipFill>
          <a:blip xmlns:r="http://schemas.openxmlformats.org/officeDocument/2006/relationships" r:embed="rId10"/>
          <a:stretch>
            <a:fillRect/>
          </a:stretch>
        </p:blipFill>
        <p:spPr>
          <a:xfrm>
            <a:off x="3047924" y="0"/>
            <a:ext cx="2539937" cy="2539937"/>
          </a:xfrm>
          <a:prstGeom prst="rect"/>
        </p:spPr>
      </p:pic>
      <p:pic>
        <p:nvPicPr>
          <p:cNvPr id="2097167" name="Image 10" descr="preencoded.png"/>
          <p:cNvPicPr>
            <a:picLocks noChangeAspect="1"/>
          </p:cNvPicPr>
          <p:nvPr/>
        </p:nvPicPr>
        <p:blipFill>
          <a:blip xmlns:r="http://schemas.openxmlformats.org/officeDocument/2006/relationships" r:embed="rId11"/>
          <a:stretch>
            <a:fillRect/>
          </a:stretch>
        </p:blipFill>
        <p:spPr>
          <a:xfrm>
            <a:off x="253994" y="4825879"/>
            <a:ext cx="1777956" cy="1777956"/>
          </a:xfrm>
          <a:prstGeom prst="rect"/>
        </p:spPr>
      </p:pic>
      <p:pic>
        <p:nvPicPr>
          <p:cNvPr id="2097168" name="Image 11" descr="preencoded.png"/>
          <p:cNvPicPr>
            <a:picLocks noChangeAspect="1"/>
          </p:cNvPicPr>
          <p:nvPr/>
        </p:nvPicPr>
        <p:blipFill>
          <a:blip xmlns:r="http://schemas.openxmlformats.org/officeDocument/2006/relationships" r:embed="rId12"/>
          <a:stretch>
            <a:fillRect/>
          </a:stretch>
        </p:blipFill>
        <p:spPr>
          <a:xfrm>
            <a:off x="9524762" y="634984"/>
            <a:ext cx="2031949" cy="2031949"/>
          </a:xfrm>
          <a:prstGeom prst="rect"/>
        </p:spPr>
      </p:pic>
      <p:pic>
        <p:nvPicPr>
          <p:cNvPr id="2097169" name="Image 12" descr="preencoded.png"/>
          <p:cNvPicPr>
            <a:picLocks noChangeAspect="1"/>
          </p:cNvPicPr>
          <p:nvPr/>
        </p:nvPicPr>
        <p:blipFill>
          <a:blip xmlns:r="http://schemas.openxmlformats.org/officeDocument/2006/relationships" r:embed="rId13"/>
          <a:stretch>
            <a:fillRect/>
          </a:stretch>
        </p:blipFill>
        <p:spPr>
          <a:xfrm>
            <a:off x="1015975" y="3708307"/>
            <a:ext cx="1777956" cy="50799"/>
          </a:xfrm>
          <a:prstGeom prst="rect"/>
        </p:spPr>
      </p:pic>
      <p:pic>
        <p:nvPicPr>
          <p:cNvPr id="2097170" name="Image 13" descr="preencoded.png"/>
          <p:cNvPicPr>
            <a:picLocks noChangeAspect="1"/>
          </p:cNvPicPr>
          <p:nvPr/>
        </p:nvPicPr>
        <p:blipFill>
          <a:blip xmlns:r="http://schemas.openxmlformats.org/officeDocument/2006/relationships" r:embed="rId14"/>
          <a:stretch>
            <a:fillRect/>
          </a:stretch>
        </p:blipFill>
        <p:spPr>
          <a:xfrm>
            <a:off x="1015975" y="1295368"/>
            <a:ext cx="2539937" cy="63498"/>
          </a:xfrm>
          <a:prstGeom prst="rect"/>
        </p:spPr>
      </p:pic>
      <p:pic>
        <p:nvPicPr>
          <p:cNvPr id="2097171" name="Image 14" descr="preencoded.png"/>
          <p:cNvPicPr>
            <a:picLocks noChangeAspect="1"/>
          </p:cNvPicPr>
          <p:nvPr/>
        </p:nvPicPr>
        <p:blipFill>
          <a:blip xmlns:r="http://schemas.openxmlformats.org/officeDocument/2006/relationships" r:embed="rId15"/>
          <a:srcRect/>
          <a:stretch>
            <a:fillRect/>
          </a:stretch>
        </p:blipFill>
        <p:spPr>
          <a:xfrm>
            <a:off x="8254794" y="1015975"/>
            <a:ext cx="3301917" cy="4825879"/>
          </a:xfrm>
          <a:prstGeom prst="rect"/>
        </p:spPr>
      </p:pic>
      <p:sp>
        <p:nvSpPr>
          <p:cNvPr id="1048585" name="Text 0"/>
          <p:cNvSpPr/>
          <p:nvPr/>
        </p:nvSpPr>
        <p:spPr>
          <a:xfrm>
            <a:off x="1015975" y="1803355"/>
            <a:ext cx="6629234" cy="2387540"/>
          </a:xfrm>
          <a:prstGeom prst="rect"/>
          <a:noFill/>
        </p:spPr>
        <p:txBody>
          <a:bodyPr anchor="t" bIns="1016" lIns="1016" rIns="1016" rtlCol="0" tIns="1016" wrap="square"/>
          <a:p>
            <a:pPr algn="l" indent="0" marL="0">
              <a:lnSpc>
                <a:spcPct val="120000"/>
              </a:lnSpc>
              <a:buNone/>
            </a:pPr>
            <a:r>
              <a:rPr b="1" dirty="0" sz="3200" lang="en-US">
                <a:solidFill>
                  <a:srgbClr val="1A1F36"/>
                </a:solidFill>
                <a:latin typeface="Segoe UI" pitchFamily="34" charset="0"/>
                <a:ea typeface="Segoe UI" pitchFamily="34" charset="-122"/>
                <a:cs typeface="Segoe UI" pitchFamily="34" charset="-120"/>
              </a:rPr>
              <a:t>Business Intelligence &amp; Interactive Data Visualization Using Microsoft Power BI
</a:t>
            </a:r>
            <a:endParaRPr dirty="0" sz="3200" lang="en-US"/>
          </a:p>
        </p:txBody>
      </p:sp>
      <p:sp>
        <p:nvSpPr>
          <p:cNvPr id="1048586" name="Text 1"/>
          <p:cNvSpPr/>
          <p:nvPr/>
        </p:nvSpPr>
        <p:spPr>
          <a:xfrm>
            <a:off x="1015975" y="4470288"/>
            <a:ext cx="6603835" cy="1498563"/>
          </a:xfrm>
          <a:prstGeom prst="rect"/>
          <a:noFill/>
        </p:spPr>
        <p:txBody>
          <a:bodyPr anchor="t" bIns="1016" lIns="1016" rIns="1016" rtlCol="0" tIns="1016" wrap="square"/>
          <a:p>
            <a:pPr algn="l" indent="0" marL="0">
              <a:lnSpc>
                <a:spcPct val="150000"/>
              </a:lnSpc>
              <a:buNone/>
            </a:pPr>
            <a:r>
              <a:rPr dirty="0" sz="1300" lang="en-US">
                <a:solidFill>
                  <a:srgbClr val="454B63"/>
                </a:solidFill>
                <a:latin typeface="Calibri" pitchFamily="34" charset="0"/>
                <a:ea typeface="Calibri" pitchFamily="34" charset="-122"/>
                <a:cs typeface="Calibri" pitchFamily="34" charset="-120"/>
              </a:rPr>
              <a:t>This presentation explores the integration of Business Intelligence and interactive data visualization through Microsoft Power BI. It highlights my internship experience at Cognifyz IT Solutions, focusing on data transformation, analytical modeling, and the creation of impactful dashboards. The insights gained during this capstone project will demonstrate the power of data in driving informed business decisions and enhancing operational efficiency.
</a:t>
            </a:r>
            <a:endParaRPr dirty="0" sz="1300" lang="en-US"/>
          </a:p>
        </p:txBody>
      </p:sp>
      <p:sp>
        <p:nvSpPr>
          <p:cNvPr id="1048587" name="Shape 2"/>
          <p:cNvSpPr/>
          <p:nvPr/>
        </p:nvSpPr>
        <p:spPr>
          <a:xfrm>
            <a:off x="1015975" y="1498563"/>
            <a:ext cx="711182" cy="63498"/>
          </a:xfrm>
          <a:prstGeom prst="rect"/>
          <a:solidFill>
            <a:srgbClr val="5B3FD6"/>
          </a:solid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FA"/>
        </a:solidFill>
        <a:effectLst/>
      </p:bgPr>
    </p:bg>
    <p:spTree>
      <p:nvGrpSpPr>
        <p:cNvPr id="22" name=""/>
        <p:cNvGrpSpPr/>
        <p:nvPr/>
      </p:nvGrpSpPr>
      <p:grpSpPr>
        <a:xfrm>
          <a:off x="0" y="0"/>
          <a:ext cx="0" cy="0"/>
          <a:chOff x="0" y="0"/>
          <a:chExt cx="0" cy="0"/>
        </a:xfrm>
      </p:grpSpPr>
      <p:pic>
        <p:nvPicPr>
          <p:cNvPr id="2097172" name="Image 0" descr="preencoded.png"/>
          <p:cNvPicPr>
            <a:picLocks noChangeAspect="1"/>
          </p:cNvPicPr>
          <p:nvPr/>
        </p:nvPicPr>
        <p:blipFill>
          <a:blip xmlns:r="http://schemas.openxmlformats.org/officeDocument/2006/relationships" r:embed="rId1"/>
          <a:stretch>
            <a:fillRect/>
          </a:stretch>
        </p:blipFill>
        <p:spPr>
          <a:xfrm>
            <a:off x="0" y="5079873"/>
            <a:ext cx="12145975" cy="1732407"/>
          </a:xfrm>
          <a:prstGeom prst="rect"/>
        </p:spPr>
      </p:pic>
      <p:pic>
        <p:nvPicPr>
          <p:cNvPr id="2097173" name="Image 1" descr="preencoded.png"/>
          <p:cNvPicPr>
            <a:picLocks noChangeAspect="1"/>
          </p:cNvPicPr>
          <p:nvPr/>
        </p:nvPicPr>
        <p:blipFill>
          <a:blip xmlns:r="http://schemas.openxmlformats.org/officeDocument/2006/relationships" r:embed="rId2"/>
          <a:stretch>
            <a:fillRect/>
          </a:stretch>
        </p:blipFill>
        <p:spPr>
          <a:xfrm>
            <a:off x="-1269968" y="1904952"/>
            <a:ext cx="5079873" cy="4907328"/>
          </a:xfrm>
          <a:prstGeom prst="rect"/>
        </p:spPr>
      </p:pic>
      <p:pic>
        <p:nvPicPr>
          <p:cNvPr id="2097174" name="Image 2" descr="preencoded.png"/>
          <p:cNvPicPr>
            <a:picLocks noChangeAspect="1"/>
          </p:cNvPicPr>
          <p:nvPr/>
        </p:nvPicPr>
        <p:blipFill>
          <a:blip xmlns:r="http://schemas.openxmlformats.org/officeDocument/2006/relationships" r:embed="rId3"/>
          <a:stretch>
            <a:fillRect/>
          </a:stretch>
        </p:blipFill>
        <p:spPr>
          <a:xfrm>
            <a:off x="7619810" y="2539937"/>
            <a:ext cx="4526166" cy="4272344"/>
          </a:xfrm>
          <a:prstGeom prst="rect"/>
        </p:spPr>
      </p:pic>
      <p:sp>
        <p:nvSpPr>
          <p:cNvPr id="1048591" name="Shape 0"/>
          <p:cNvSpPr/>
          <p:nvPr/>
        </p:nvSpPr>
        <p:spPr>
          <a:xfrm>
            <a:off x="761981" y="1777955"/>
            <a:ext cx="10667733" cy="1378233"/>
          </a:xfrm>
          <a:prstGeom prst="roundRect">
            <a:avLst>
              <a:gd name="adj" fmla="val 16586"/>
            </a:avLst>
          </a:prstGeom>
          <a:solidFill>
            <a:srgbClr val="000000">
              <a:alpha val="0"/>
            </a:srgbClr>
          </a:solidFill>
          <a:ln w="10160">
            <a:solidFill>
              <a:srgbClr val="2B3150">
                <a:alpha val="18000"/>
              </a:srgbClr>
            </a:solidFill>
            <a:prstDash val="solid"/>
          </a:ln>
        </p:spPr>
      </p:sp>
      <p:sp>
        <p:nvSpPr>
          <p:cNvPr id="1048592" name="Shape 1"/>
          <p:cNvSpPr/>
          <p:nvPr/>
        </p:nvSpPr>
        <p:spPr>
          <a:xfrm>
            <a:off x="761981" y="3250960"/>
            <a:ext cx="10667733" cy="1378231"/>
          </a:xfrm>
          <a:prstGeom prst="roundRect">
            <a:avLst>
              <a:gd name="adj" fmla="val 16586"/>
            </a:avLst>
          </a:prstGeom>
          <a:solidFill>
            <a:srgbClr val="000000">
              <a:alpha val="0"/>
            </a:srgbClr>
          </a:solidFill>
          <a:ln w="10160">
            <a:solidFill>
              <a:srgbClr val="2B3150">
                <a:alpha val="18000"/>
              </a:srgbClr>
            </a:solidFill>
            <a:prstDash val="solid"/>
          </a:ln>
        </p:spPr>
      </p:sp>
      <p:sp>
        <p:nvSpPr>
          <p:cNvPr id="1048593" name="Shape 2"/>
          <p:cNvSpPr/>
          <p:nvPr/>
        </p:nvSpPr>
        <p:spPr>
          <a:xfrm>
            <a:off x="761981" y="4723963"/>
            <a:ext cx="10667733" cy="1378233"/>
          </a:xfrm>
          <a:prstGeom prst="roundRect">
            <a:avLst>
              <a:gd name="adj" fmla="val 16586"/>
            </a:avLst>
          </a:prstGeom>
          <a:solidFill>
            <a:srgbClr val="000000">
              <a:alpha val="0"/>
            </a:srgbClr>
          </a:solidFill>
          <a:ln w="10160">
            <a:solidFill>
              <a:srgbClr val="2B3150">
                <a:alpha val="18000"/>
              </a:srgbClr>
            </a:solidFill>
            <a:prstDash val="solid"/>
          </a:ln>
        </p:spPr>
      </p:sp>
      <p:pic>
        <p:nvPicPr>
          <p:cNvPr id="2097175" name="Image 3" descr="preencoded.png"/>
          <p:cNvPicPr>
            <a:picLocks noChangeAspect="1"/>
          </p:cNvPicPr>
          <p:nvPr/>
        </p:nvPicPr>
        <p:blipFill>
          <a:blip xmlns:r="http://schemas.openxmlformats.org/officeDocument/2006/relationships" r:embed="rId4"/>
          <a:stretch>
            <a:fillRect/>
          </a:stretch>
        </p:blipFill>
        <p:spPr>
          <a:xfrm>
            <a:off x="761981" y="4825879"/>
            <a:ext cx="2031949" cy="1986401"/>
          </a:xfrm>
          <a:prstGeom prst="rect"/>
        </p:spPr>
      </p:pic>
      <p:pic>
        <p:nvPicPr>
          <p:cNvPr id="2097176" name="Image 4" descr="preencoded.png"/>
          <p:cNvPicPr>
            <a:picLocks noChangeAspect="1"/>
          </p:cNvPicPr>
          <p:nvPr/>
        </p:nvPicPr>
        <p:blipFill>
          <a:blip xmlns:r="http://schemas.openxmlformats.org/officeDocument/2006/relationships" r:embed="rId5"/>
          <a:stretch>
            <a:fillRect/>
          </a:stretch>
        </p:blipFill>
        <p:spPr>
          <a:xfrm>
            <a:off x="10159746" y="634984"/>
            <a:ext cx="1777956" cy="1777956"/>
          </a:xfrm>
          <a:prstGeom prst="rect"/>
        </p:spPr>
      </p:pic>
      <p:pic>
        <p:nvPicPr>
          <p:cNvPr id="2097177" name="Image 5" descr="preencoded.png"/>
          <p:cNvPicPr>
            <a:picLocks noChangeAspect="1"/>
          </p:cNvPicPr>
          <p:nvPr/>
        </p:nvPicPr>
        <p:blipFill>
          <a:blip xmlns:r="http://schemas.openxmlformats.org/officeDocument/2006/relationships" r:embed="rId6"/>
          <a:stretch>
            <a:fillRect/>
          </a:stretch>
        </p:blipFill>
        <p:spPr>
          <a:xfrm>
            <a:off x="1015975" y="1650959"/>
            <a:ext cx="1523962" cy="50799"/>
          </a:xfrm>
          <a:prstGeom prst="rect"/>
        </p:spPr>
      </p:pic>
      <p:sp>
        <p:nvSpPr>
          <p:cNvPr id="1048594" name="Text 3"/>
          <p:cNvSpPr/>
          <p:nvPr/>
        </p:nvSpPr>
        <p:spPr>
          <a:xfrm>
            <a:off x="1015975" y="634984"/>
            <a:ext cx="10159746" cy="1142971"/>
          </a:xfrm>
          <a:prstGeom prst="rect"/>
          <a:noFill/>
        </p:spPr>
        <p:txBody>
          <a:bodyPr anchor="t" bIns="1016" lIns="1016" rIns="1016" rtlCol="0" tIns="1016" wrap="square"/>
          <a:p>
            <a:pPr algn="l" indent="0" marL="0">
              <a:lnSpc>
                <a:spcPct val="120000"/>
              </a:lnSpc>
              <a:buNone/>
            </a:pPr>
            <a:r>
              <a:rPr b="1" dirty="0" sz="2900" lang="en-US">
                <a:solidFill>
                  <a:srgbClr val="1A1F36"/>
                </a:solidFill>
                <a:latin typeface="Segoe UI" pitchFamily="34" charset="0"/>
                <a:ea typeface="Segoe UI" pitchFamily="34" charset="-122"/>
                <a:cs typeface="Segoe UI" pitchFamily="34" charset="-120"/>
              </a:rPr>
              <a:t>Organization Profile &amp; Internship Context
</a:t>
            </a:r>
            <a:endParaRPr dirty="0" sz="2900" lang="en-US"/>
          </a:p>
        </p:txBody>
      </p:sp>
      <p:sp>
        <p:nvSpPr>
          <p:cNvPr id="1048595" name="Text 4"/>
          <p:cNvSpPr/>
          <p:nvPr/>
        </p:nvSpPr>
        <p:spPr>
          <a:xfrm>
            <a:off x="3643062" y="2291973"/>
            <a:ext cx="7592505" cy="158111"/>
          </a:xfrm>
          <a:prstGeom prst="rect"/>
          <a:noFill/>
        </p:spPr>
        <p:txBody>
          <a:bodyPr anchor="t" bIns="1016" lIns="1016" rIns="1016" rtlCol="0" tIns="1016" wrap="square"/>
          <a:p>
            <a:pPr indent="0" marL="0">
              <a:lnSpc>
                <a:spcPct val="124529"/>
              </a:lnSpc>
              <a:buNone/>
            </a:pPr>
            <a:r>
              <a:rPr b="1" dirty="0" sz="900" lang="en-US">
                <a:solidFill>
                  <a:srgbClr val="2B3150"/>
                </a:solidFill>
                <a:latin typeface="Segoe UI" pitchFamily="34" charset="0"/>
                <a:ea typeface="Segoe UI" pitchFamily="34" charset="-122"/>
                <a:cs typeface="Segoe UI" pitchFamily="34" charset="-120"/>
              </a:rPr>
              <a:t>Cognifyz IT Solutions Overview
</a:t>
            </a:r>
            <a:endParaRPr dirty="0" sz="900" lang="en-US"/>
          </a:p>
        </p:txBody>
      </p:sp>
      <p:sp>
        <p:nvSpPr>
          <p:cNvPr id="1048596" name="Text 5"/>
          <p:cNvSpPr/>
          <p:nvPr/>
        </p:nvSpPr>
        <p:spPr>
          <a:xfrm>
            <a:off x="3643062" y="2481676"/>
            <a:ext cx="7592505" cy="160333"/>
          </a:xfrm>
          <a:prstGeom prst="rect"/>
          <a:noFill/>
        </p:spPr>
        <p:txBody>
          <a:bodyPr anchor="t" bIns="1016" lIns="1016" rIns="1016" rtlCol="0" tIns="1016" wrap="square"/>
          <a:p>
            <a:pPr indent="0" marL="0">
              <a:lnSpc>
                <a:spcPct val="140441"/>
              </a:lnSpc>
              <a:buNone/>
            </a:pPr>
            <a:r>
              <a:rPr dirty="0" sz="800" lang="en-US">
                <a:solidFill>
                  <a:srgbClr val="454B63"/>
                </a:solidFill>
                <a:latin typeface="Segoe UI" pitchFamily="34" charset="0"/>
                <a:ea typeface="Segoe UI" pitchFamily="34" charset="-122"/>
                <a:cs typeface="Segoe UI" pitchFamily="34" charset="-120"/>
              </a:rPr>
              <a:t>Cognifyz specializes in AI, Data Science, and Business Analytics, enhancing data-driven decisions.
</a:t>
            </a:r>
            <a:endParaRPr dirty="0" sz="800" lang="en-US"/>
          </a:p>
        </p:txBody>
      </p:sp>
      <p:sp>
        <p:nvSpPr>
          <p:cNvPr id="1048597" name="Text 6"/>
          <p:cNvSpPr/>
          <p:nvPr/>
        </p:nvSpPr>
        <p:spPr>
          <a:xfrm>
            <a:off x="3643062" y="3764978"/>
            <a:ext cx="7592505" cy="158111"/>
          </a:xfrm>
          <a:prstGeom prst="rect"/>
          <a:noFill/>
        </p:spPr>
        <p:txBody>
          <a:bodyPr anchor="t" bIns="1016" lIns="1016" rIns="1016" rtlCol="0" tIns="1016" wrap="square"/>
          <a:p>
            <a:pPr indent="0" marL="0">
              <a:lnSpc>
                <a:spcPct val="124529"/>
              </a:lnSpc>
              <a:buNone/>
            </a:pPr>
            <a:r>
              <a:rPr b="1" dirty="0" sz="900" lang="en-US">
                <a:solidFill>
                  <a:srgbClr val="2B3150"/>
                </a:solidFill>
                <a:latin typeface="Segoe UI" pitchFamily="34" charset="0"/>
                <a:ea typeface="Segoe UI" pitchFamily="34" charset="-122"/>
                <a:cs typeface="Segoe UI" pitchFamily="34" charset="-120"/>
              </a:rPr>
              <a:t>Accreditations and Certifications
</a:t>
            </a:r>
            <a:endParaRPr dirty="0" sz="900" lang="en-US"/>
          </a:p>
        </p:txBody>
      </p:sp>
      <p:sp>
        <p:nvSpPr>
          <p:cNvPr id="1048598" name="Text 7"/>
          <p:cNvSpPr/>
          <p:nvPr/>
        </p:nvSpPr>
        <p:spPr>
          <a:xfrm>
            <a:off x="3643062" y="3954682"/>
            <a:ext cx="7592505" cy="160333"/>
          </a:xfrm>
          <a:prstGeom prst="rect"/>
          <a:noFill/>
        </p:spPr>
        <p:txBody>
          <a:bodyPr anchor="t" bIns="1016" lIns="1016" rIns="1016" rtlCol="0" tIns="1016" wrap="square"/>
          <a:p>
            <a:pPr indent="0" marL="0">
              <a:lnSpc>
                <a:spcPct val="140441"/>
              </a:lnSpc>
              <a:buNone/>
            </a:pPr>
            <a:r>
              <a:rPr dirty="0" sz="800" lang="en-US">
                <a:solidFill>
                  <a:srgbClr val="454B63"/>
                </a:solidFill>
                <a:latin typeface="Segoe UI" pitchFamily="34" charset="0"/>
                <a:ea typeface="Segoe UI" pitchFamily="34" charset="-122"/>
                <a:cs typeface="Segoe UI" pitchFamily="34" charset="-120"/>
              </a:rPr>
              <a:t>The company is ISO 9001:2015 certified and registered as an MSME enterprise.
</a:t>
            </a:r>
            <a:endParaRPr dirty="0" sz="800" lang="en-US"/>
          </a:p>
        </p:txBody>
      </p:sp>
      <p:sp>
        <p:nvSpPr>
          <p:cNvPr id="1048599" name="Text 8"/>
          <p:cNvSpPr/>
          <p:nvPr/>
        </p:nvSpPr>
        <p:spPr>
          <a:xfrm>
            <a:off x="3643062" y="5237984"/>
            <a:ext cx="7592505" cy="158113"/>
          </a:xfrm>
          <a:prstGeom prst="rect"/>
          <a:noFill/>
        </p:spPr>
        <p:txBody>
          <a:bodyPr anchor="t" bIns="1016" lIns="1016" rIns="1016" rtlCol="0" tIns="1016" wrap="square"/>
          <a:p>
            <a:pPr indent="0" marL="0">
              <a:lnSpc>
                <a:spcPct val="124529"/>
              </a:lnSpc>
              <a:buNone/>
            </a:pPr>
            <a:r>
              <a:rPr b="1" dirty="0" sz="900" lang="en-US">
                <a:solidFill>
                  <a:srgbClr val="2B3150"/>
                </a:solidFill>
                <a:latin typeface="Segoe UI" pitchFamily="34" charset="0"/>
                <a:ea typeface="Segoe UI" pitchFamily="34" charset="-122"/>
                <a:cs typeface="Segoe UI" pitchFamily="34" charset="-120"/>
              </a:rPr>
              <a:t>Role as Power BI Intern
</a:t>
            </a:r>
            <a:endParaRPr dirty="0" sz="900" lang="en-US"/>
          </a:p>
        </p:txBody>
      </p:sp>
      <p:sp>
        <p:nvSpPr>
          <p:cNvPr id="1048600" name="Text 9"/>
          <p:cNvSpPr/>
          <p:nvPr/>
        </p:nvSpPr>
        <p:spPr>
          <a:xfrm>
            <a:off x="3643062" y="5427684"/>
            <a:ext cx="7592505" cy="160335"/>
          </a:xfrm>
          <a:prstGeom prst="rect"/>
          <a:noFill/>
        </p:spPr>
        <p:txBody>
          <a:bodyPr anchor="t" bIns="1016" lIns="1016" rIns="1016" rtlCol="0" tIns="1016" wrap="square"/>
          <a:p>
            <a:pPr indent="0" marL="0">
              <a:lnSpc>
                <a:spcPct val="140441"/>
              </a:lnSpc>
              <a:buNone/>
            </a:pPr>
            <a:r>
              <a:rPr dirty="0" sz="800" lang="en-US">
                <a:solidFill>
                  <a:srgbClr val="454B63"/>
                </a:solidFill>
                <a:latin typeface="Segoe UI" pitchFamily="34" charset="0"/>
                <a:ea typeface="Segoe UI" pitchFamily="34" charset="-122"/>
                <a:cs typeface="Segoe UI" pitchFamily="34" charset="-120"/>
              </a:rPr>
              <a:t>Focused on transforming data into actionable insights through Power BI analytics.
</a:t>
            </a:r>
            <a:endParaRPr dirty="0" sz="800" lang="en-US"/>
          </a:p>
        </p:txBody>
      </p:sp>
      <p:sp>
        <p:nvSpPr>
          <p:cNvPr id="1048601" name="Shape 10"/>
          <p:cNvSpPr/>
          <p:nvPr/>
        </p:nvSpPr>
        <p:spPr>
          <a:xfrm>
            <a:off x="3158570" y="2300706"/>
            <a:ext cx="316222" cy="205575"/>
          </a:xfrm>
          <a:prstGeom prst="roundRect">
            <a:avLst>
              <a:gd name="adj" fmla="val 25000"/>
            </a:avLst>
          </a:prstGeom>
          <a:solidFill>
            <a:srgbClr val="5B3FD6">
              <a:alpha val="10000"/>
            </a:srgbClr>
          </a:solidFill>
        </p:spPr>
      </p:sp>
      <p:sp>
        <p:nvSpPr>
          <p:cNvPr id="1048602" name="Text 11"/>
          <p:cNvSpPr/>
          <p:nvPr/>
        </p:nvSpPr>
        <p:spPr>
          <a:xfrm>
            <a:off x="3158570" y="2300706"/>
            <a:ext cx="316222" cy="205575"/>
          </a:xfrm>
          <a:prstGeom prst="rect"/>
          <a:noFill/>
        </p:spPr>
        <p:txBody>
          <a:bodyPr anchor="t" bIns="0" lIns="0" rIns="0" rtlCol="0" tIns="0" wrap="square"/>
          <a:p>
            <a:pPr algn="ctr" indent="0" marL="0">
              <a:lnSpc>
                <a:spcPct val="288889"/>
              </a:lnSpc>
              <a:buNone/>
            </a:pPr>
            <a:r>
              <a:rPr b="1" dirty="0" sz="800" lang="en-US">
                <a:solidFill>
                  <a:srgbClr val="5B3FD6"/>
                </a:solidFill>
                <a:latin typeface="Calibri" pitchFamily="34" charset="0"/>
                <a:ea typeface="Calibri" pitchFamily="34" charset="-122"/>
                <a:cs typeface="Calibri" pitchFamily="34" charset="-120"/>
              </a:rPr>
              <a:t>01
</a:t>
            </a:r>
            <a:endParaRPr dirty="0" sz="800" lang="en-US"/>
          </a:p>
        </p:txBody>
      </p:sp>
      <p:sp>
        <p:nvSpPr>
          <p:cNvPr id="1048603" name="Shape 12"/>
          <p:cNvSpPr/>
          <p:nvPr/>
        </p:nvSpPr>
        <p:spPr>
          <a:xfrm>
            <a:off x="3158570" y="3773711"/>
            <a:ext cx="316222" cy="205575"/>
          </a:xfrm>
          <a:prstGeom prst="roundRect">
            <a:avLst>
              <a:gd name="adj" fmla="val 25000"/>
            </a:avLst>
          </a:prstGeom>
          <a:solidFill>
            <a:srgbClr val="5B3FD6">
              <a:alpha val="10000"/>
            </a:srgbClr>
          </a:solidFill>
        </p:spPr>
      </p:sp>
      <p:sp>
        <p:nvSpPr>
          <p:cNvPr id="1048604" name="Text 13"/>
          <p:cNvSpPr/>
          <p:nvPr/>
        </p:nvSpPr>
        <p:spPr>
          <a:xfrm>
            <a:off x="3158570" y="3773711"/>
            <a:ext cx="316222" cy="205575"/>
          </a:xfrm>
          <a:prstGeom prst="rect"/>
          <a:noFill/>
        </p:spPr>
        <p:txBody>
          <a:bodyPr anchor="t" bIns="0" lIns="0" rIns="0" rtlCol="0" tIns="0" wrap="square"/>
          <a:p>
            <a:pPr algn="ctr" indent="0" marL="0">
              <a:lnSpc>
                <a:spcPct val="288889"/>
              </a:lnSpc>
              <a:buNone/>
            </a:pPr>
            <a:r>
              <a:rPr b="1" dirty="0" sz="800" lang="en-US">
                <a:solidFill>
                  <a:srgbClr val="5B3FD6"/>
                </a:solidFill>
                <a:latin typeface="Calibri" pitchFamily="34" charset="0"/>
                <a:ea typeface="Calibri" pitchFamily="34" charset="-122"/>
                <a:cs typeface="Calibri" pitchFamily="34" charset="-120"/>
              </a:rPr>
              <a:t>02
</a:t>
            </a:r>
            <a:endParaRPr dirty="0" sz="800" lang="en-US"/>
          </a:p>
        </p:txBody>
      </p:sp>
      <p:sp>
        <p:nvSpPr>
          <p:cNvPr id="1048605" name="Shape 14"/>
          <p:cNvSpPr/>
          <p:nvPr/>
        </p:nvSpPr>
        <p:spPr>
          <a:xfrm>
            <a:off x="3158570" y="5246714"/>
            <a:ext cx="316222" cy="205578"/>
          </a:xfrm>
          <a:prstGeom prst="roundRect">
            <a:avLst>
              <a:gd name="adj" fmla="val 25000"/>
            </a:avLst>
          </a:prstGeom>
          <a:solidFill>
            <a:srgbClr val="5B3FD6">
              <a:alpha val="10000"/>
            </a:srgbClr>
          </a:solidFill>
        </p:spPr>
      </p:sp>
      <p:sp>
        <p:nvSpPr>
          <p:cNvPr id="1048606" name="Text 15"/>
          <p:cNvSpPr/>
          <p:nvPr/>
        </p:nvSpPr>
        <p:spPr>
          <a:xfrm>
            <a:off x="3158570" y="5246714"/>
            <a:ext cx="316222" cy="205578"/>
          </a:xfrm>
          <a:prstGeom prst="rect"/>
          <a:noFill/>
        </p:spPr>
        <p:txBody>
          <a:bodyPr anchor="t" bIns="0" lIns="0" rIns="0" rtlCol="0" tIns="0" wrap="square"/>
          <a:p>
            <a:pPr algn="ctr" indent="0" marL="0">
              <a:lnSpc>
                <a:spcPct val="288889"/>
              </a:lnSpc>
              <a:buNone/>
            </a:pPr>
            <a:r>
              <a:rPr b="1" dirty="0" sz="800" lang="en-US">
                <a:solidFill>
                  <a:srgbClr val="5B3FD6"/>
                </a:solidFill>
                <a:latin typeface="Calibri" pitchFamily="34" charset="0"/>
                <a:ea typeface="Calibri" pitchFamily="34" charset="-122"/>
                <a:cs typeface="Calibri" pitchFamily="34" charset="-120"/>
              </a:rPr>
              <a:t>03
</a:t>
            </a:r>
            <a:endParaRPr dirty="0" sz="800" lang="en-US"/>
          </a:p>
        </p:txBody>
      </p:sp>
      <p:pic>
        <p:nvPicPr>
          <p:cNvPr id="2097178" name="Image 6" descr="preencoded.png"/>
          <p:cNvPicPr>
            <a:picLocks noChangeAspect="1"/>
          </p:cNvPicPr>
          <p:nvPr/>
        </p:nvPicPr>
        <p:blipFill>
          <a:blip xmlns:r="http://schemas.openxmlformats.org/officeDocument/2006/relationships" r:embed="rId7"/>
          <a:srcRect/>
          <a:stretch>
            <a:fillRect/>
          </a:stretch>
        </p:blipFill>
        <p:spPr>
          <a:xfrm>
            <a:off x="866912" y="1882886"/>
            <a:ext cx="2133546" cy="1168371"/>
          </a:xfrm>
          <a:prstGeom prst="rect"/>
        </p:spPr>
      </p:pic>
      <p:pic>
        <p:nvPicPr>
          <p:cNvPr id="2097179" name="Image 7" descr="preencoded.png"/>
          <p:cNvPicPr>
            <a:picLocks noChangeAspect="1"/>
          </p:cNvPicPr>
          <p:nvPr/>
        </p:nvPicPr>
        <p:blipFill>
          <a:blip xmlns:r="http://schemas.openxmlformats.org/officeDocument/2006/relationships" r:embed="rId8"/>
          <a:srcRect/>
          <a:stretch>
            <a:fillRect/>
          </a:stretch>
        </p:blipFill>
        <p:spPr>
          <a:xfrm>
            <a:off x="866912" y="3355889"/>
            <a:ext cx="2133546" cy="1168371"/>
          </a:xfrm>
          <a:prstGeom prst="rect"/>
        </p:spPr>
      </p:pic>
      <p:pic>
        <p:nvPicPr>
          <p:cNvPr id="2097180" name="Image 8" descr="preencoded.png"/>
          <p:cNvPicPr>
            <a:picLocks noChangeAspect="1"/>
          </p:cNvPicPr>
          <p:nvPr/>
        </p:nvPicPr>
        <p:blipFill>
          <a:blip xmlns:r="http://schemas.openxmlformats.org/officeDocument/2006/relationships" r:embed="rId9"/>
          <a:srcRect/>
          <a:stretch>
            <a:fillRect/>
          </a:stretch>
        </p:blipFill>
        <p:spPr>
          <a:xfrm>
            <a:off x="866912" y="4828895"/>
            <a:ext cx="2133546" cy="1168371"/>
          </a:xfrm>
          <a:prstGeom prst="rec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FA"/>
        </a:solidFill>
        <a:effectLst/>
      </p:bgPr>
    </p:bg>
    <p:spTree>
      <p:nvGrpSpPr>
        <p:cNvPr id="25" name=""/>
        <p:cNvGrpSpPr/>
        <p:nvPr/>
      </p:nvGrpSpPr>
      <p:grpSpPr>
        <a:xfrm>
          <a:off x="0" y="0"/>
          <a:ext cx="0" cy="0"/>
          <a:chOff x="0" y="0"/>
          <a:chExt cx="0" cy="0"/>
        </a:xfrm>
      </p:grpSpPr>
      <p:pic>
        <p:nvPicPr>
          <p:cNvPr id="2097181" name="Image 0" descr="preencoded.png"/>
          <p:cNvPicPr>
            <a:picLocks noChangeAspect="1"/>
          </p:cNvPicPr>
          <p:nvPr/>
        </p:nvPicPr>
        <p:blipFill>
          <a:blip xmlns:r="http://schemas.openxmlformats.org/officeDocument/2006/relationships" r:embed="rId1"/>
          <a:stretch>
            <a:fillRect/>
          </a:stretch>
        </p:blipFill>
        <p:spPr>
          <a:xfrm>
            <a:off x="0" y="5079873"/>
            <a:ext cx="12145975" cy="1732407"/>
          </a:xfrm>
          <a:prstGeom prst="rect"/>
        </p:spPr>
      </p:pic>
      <p:pic>
        <p:nvPicPr>
          <p:cNvPr id="2097182" name="Image 1" descr="preencoded.png"/>
          <p:cNvPicPr>
            <a:picLocks noChangeAspect="1"/>
          </p:cNvPicPr>
          <p:nvPr/>
        </p:nvPicPr>
        <p:blipFill>
          <a:blip xmlns:r="http://schemas.openxmlformats.org/officeDocument/2006/relationships" r:embed="rId2"/>
          <a:stretch>
            <a:fillRect/>
          </a:stretch>
        </p:blipFill>
        <p:spPr>
          <a:xfrm>
            <a:off x="-1269968" y="1904952"/>
            <a:ext cx="5079873" cy="4907328"/>
          </a:xfrm>
          <a:prstGeom prst="rect"/>
        </p:spPr>
      </p:pic>
      <p:pic>
        <p:nvPicPr>
          <p:cNvPr id="2097183" name="Image 2" descr="preencoded.png"/>
          <p:cNvPicPr>
            <a:picLocks noChangeAspect="1"/>
          </p:cNvPicPr>
          <p:nvPr/>
        </p:nvPicPr>
        <p:blipFill>
          <a:blip xmlns:r="http://schemas.openxmlformats.org/officeDocument/2006/relationships" r:embed="rId3"/>
          <a:stretch>
            <a:fillRect/>
          </a:stretch>
        </p:blipFill>
        <p:spPr>
          <a:xfrm>
            <a:off x="7619810" y="2539937"/>
            <a:ext cx="4526166" cy="4272344"/>
          </a:xfrm>
          <a:prstGeom prst="rect"/>
        </p:spPr>
      </p:pic>
      <p:sp>
        <p:nvSpPr>
          <p:cNvPr id="1048610" name="Shape 0"/>
          <p:cNvSpPr/>
          <p:nvPr/>
        </p:nvSpPr>
        <p:spPr>
          <a:xfrm>
            <a:off x="10593440" y="6553034"/>
            <a:ext cx="1522057" cy="228594"/>
          </a:xfrm>
          <a:prstGeom prst="rect"/>
          <a:solidFill>
            <a:srgbClr val="000000">
              <a:alpha val="60000"/>
            </a:srgbClr>
          </a:solidFill>
        </p:spPr>
      </p:sp>
      <p:pic>
        <p:nvPicPr>
          <p:cNvPr id="2097184" name="Image 3" descr="preencoded.png"/>
          <p:cNvPicPr>
            <a:picLocks noChangeAspect="1"/>
          </p:cNvPicPr>
          <p:nvPr/>
        </p:nvPicPr>
        <p:blipFill>
          <a:blip xmlns:r="http://schemas.openxmlformats.org/officeDocument/2006/relationships" r:embed="rId4"/>
          <a:stretch>
            <a:fillRect/>
          </a:stretch>
        </p:blipFill>
        <p:spPr>
          <a:xfrm>
            <a:off x="761981" y="4825879"/>
            <a:ext cx="2031949" cy="1986401"/>
          </a:xfrm>
          <a:prstGeom prst="rect"/>
        </p:spPr>
      </p:pic>
      <p:pic>
        <p:nvPicPr>
          <p:cNvPr id="2097185" name="Image 4" descr="preencoded.png"/>
          <p:cNvPicPr>
            <a:picLocks noChangeAspect="1"/>
          </p:cNvPicPr>
          <p:nvPr/>
        </p:nvPicPr>
        <p:blipFill>
          <a:blip xmlns:r="http://schemas.openxmlformats.org/officeDocument/2006/relationships" r:embed="rId5"/>
          <a:stretch>
            <a:fillRect/>
          </a:stretch>
        </p:blipFill>
        <p:spPr>
          <a:xfrm>
            <a:off x="10159746" y="634984"/>
            <a:ext cx="1777956" cy="1777956"/>
          </a:xfrm>
          <a:prstGeom prst="rect"/>
        </p:spPr>
      </p:pic>
      <p:pic>
        <p:nvPicPr>
          <p:cNvPr id="2097186" name="Image 5" descr="preencoded.png"/>
          <p:cNvPicPr>
            <a:picLocks noChangeAspect="1"/>
          </p:cNvPicPr>
          <p:nvPr/>
        </p:nvPicPr>
        <p:blipFill>
          <a:blip xmlns:r="http://schemas.openxmlformats.org/officeDocument/2006/relationships" r:embed="rId6"/>
          <a:stretch>
            <a:fillRect/>
          </a:stretch>
        </p:blipFill>
        <p:spPr>
          <a:xfrm>
            <a:off x="1015975" y="1650959"/>
            <a:ext cx="1523962" cy="50799"/>
          </a:xfrm>
          <a:prstGeom prst="rect"/>
        </p:spPr>
      </p:pic>
      <p:sp>
        <p:nvSpPr>
          <p:cNvPr id="1048611" name="Text 1"/>
          <p:cNvSpPr/>
          <p:nvPr/>
        </p:nvSpPr>
        <p:spPr>
          <a:xfrm>
            <a:off x="599425" y="2376109"/>
            <a:ext cx="3552101" cy="253996"/>
          </a:xfrm>
          <a:prstGeom prst="rect"/>
          <a:noFill/>
        </p:spPr>
        <p:txBody>
          <a:bodyPr anchor="t" bIns="1016" lIns="1016" rIns="1016" rtlCol="0" tIns="1016" wrap="square"/>
          <a:p>
            <a:pPr indent="0" marL="0">
              <a:lnSpc>
                <a:spcPct val="125000"/>
              </a:lnSpc>
              <a:buNone/>
            </a:pPr>
            <a:r>
              <a:rPr b="1" dirty="0" sz="1400" lang="en-US">
                <a:solidFill>
                  <a:srgbClr val="2B3150"/>
                </a:solidFill>
                <a:latin typeface="Segoe UI" pitchFamily="34" charset="0"/>
                <a:ea typeface="Segoe UI" pitchFamily="34" charset="-122"/>
                <a:cs typeface="Segoe UI" pitchFamily="34" charset="-120"/>
              </a:rPr>
              <a:t>Raw Data Challenges
</a:t>
            </a:r>
            <a:endParaRPr dirty="0" sz="1400" lang="en-US"/>
          </a:p>
        </p:txBody>
      </p:sp>
      <p:sp>
        <p:nvSpPr>
          <p:cNvPr id="1048612" name="Text 2"/>
          <p:cNvSpPr/>
          <p:nvPr/>
        </p:nvSpPr>
        <p:spPr>
          <a:xfrm>
            <a:off x="599425" y="2680902"/>
            <a:ext cx="3552101" cy="773411"/>
          </a:xfrm>
          <a:prstGeom prst="rect"/>
          <a:noFill/>
        </p:spPr>
        <p:txBody>
          <a:bodyPr anchor="t" bIns="1016" lIns="1016" rIns="1016" rtlCol="0" tIns="1016" wrap="square"/>
          <a:p>
            <a:pPr indent="0" marL="0">
              <a:lnSpc>
                <a:spcPct val="145000"/>
              </a:lnSpc>
              <a:buNone/>
            </a:pPr>
            <a:r>
              <a:rPr dirty="0" sz="1300" lang="en-US">
                <a:solidFill>
                  <a:srgbClr val="454B63"/>
                </a:solidFill>
                <a:latin typeface="Segoe UI" pitchFamily="34" charset="0"/>
                <a:ea typeface="Segoe UI" pitchFamily="34" charset="-122"/>
                <a:cs typeface="Segoe UI" pitchFamily="34" charset="-120"/>
              </a:rPr>
              <a:t>Real-world data often contains missing entries and inconsistent formats, complicating analysis.
</a:t>
            </a:r>
            <a:endParaRPr dirty="0" sz="1300" lang="en-US"/>
          </a:p>
        </p:txBody>
      </p:sp>
      <p:sp>
        <p:nvSpPr>
          <p:cNvPr id="1048613" name="Text 3"/>
          <p:cNvSpPr/>
          <p:nvPr/>
        </p:nvSpPr>
        <p:spPr>
          <a:xfrm>
            <a:off x="4771270" y="2376109"/>
            <a:ext cx="3552101" cy="253996"/>
          </a:xfrm>
          <a:prstGeom prst="rect"/>
          <a:noFill/>
        </p:spPr>
        <p:txBody>
          <a:bodyPr anchor="t" bIns="1016" lIns="1016" rIns="1016" rtlCol="0" tIns="1016" wrap="square"/>
          <a:p>
            <a:pPr indent="0" marL="0">
              <a:lnSpc>
                <a:spcPct val="125000"/>
              </a:lnSpc>
              <a:buNone/>
            </a:pPr>
            <a:r>
              <a:rPr b="1" dirty="0" sz="1400" lang="en-US">
                <a:solidFill>
                  <a:srgbClr val="2B3150"/>
                </a:solidFill>
                <a:latin typeface="Segoe UI" pitchFamily="34" charset="0"/>
                <a:ea typeface="Segoe UI" pitchFamily="34" charset="-122"/>
                <a:cs typeface="Segoe UI" pitchFamily="34" charset="-120"/>
              </a:rPr>
              <a:t>Power Query Profiling
</a:t>
            </a:r>
            <a:endParaRPr dirty="0" sz="1400" lang="en-US"/>
          </a:p>
        </p:txBody>
      </p:sp>
      <p:sp>
        <p:nvSpPr>
          <p:cNvPr id="1048614" name="Text 4"/>
          <p:cNvSpPr/>
          <p:nvPr/>
        </p:nvSpPr>
        <p:spPr>
          <a:xfrm>
            <a:off x="4771270" y="2680902"/>
            <a:ext cx="3552101" cy="515609"/>
          </a:xfrm>
          <a:prstGeom prst="rect"/>
          <a:noFill/>
        </p:spPr>
        <p:txBody>
          <a:bodyPr anchor="t" bIns="1016" lIns="1016" rIns="1016" rtlCol="0" tIns="1016" wrap="square"/>
          <a:p>
            <a:pPr indent="0" marL="0">
              <a:lnSpc>
                <a:spcPct val="145000"/>
              </a:lnSpc>
              <a:buNone/>
            </a:pPr>
            <a:r>
              <a:rPr dirty="0" sz="1300" lang="en-US">
                <a:solidFill>
                  <a:srgbClr val="454B63"/>
                </a:solidFill>
                <a:latin typeface="Segoe UI" pitchFamily="34" charset="0"/>
                <a:ea typeface="Segoe UI" pitchFamily="34" charset="-122"/>
                <a:cs typeface="Segoe UI" pitchFamily="34" charset="-120"/>
              </a:rPr>
              <a:t>Utilized Power Query for profiling, ensuring data quality before ingestion into models.
</a:t>
            </a:r>
            <a:endParaRPr dirty="0" sz="1300" lang="en-US"/>
          </a:p>
        </p:txBody>
      </p:sp>
      <p:sp>
        <p:nvSpPr>
          <p:cNvPr id="1048615" name="Text 5"/>
          <p:cNvSpPr/>
          <p:nvPr/>
        </p:nvSpPr>
        <p:spPr>
          <a:xfrm>
            <a:off x="599425" y="4282332"/>
            <a:ext cx="3552101" cy="253992"/>
          </a:xfrm>
          <a:prstGeom prst="rect"/>
          <a:noFill/>
        </p:spPr>
        <p:txBody>
          <a:bodyPr anchor="t" bIns="1016" lIns="1016" rIns="1016" rtlCol="0" tIns="1016" wrap="square"/>
          <a:p>
            <a:pPr indent="0" marL="0">
              <a:lnSpc>
                <a:spcPct val="125000"/>
              </a:lnSpc>
              <a:buNone/>
            </a:pPr>
            <a:r>
              <a:rPr b="1" dirty="0" sz="1400" lang="en-US">
                <a:solidFill>
                  <a:srgbClr val="2B3150"/>
                </a:solidFill>
                <a:latin typeface="Segoe UI" pitchFamily="34" charset="0"/>
                <a:ea typeface="Segoe UI" pitchFamily="34" charset="-122"/>
                <a:cs typeface="Segoe UI" pitchFamily="34" charset="-120"/>
              </a:rPr>
              <a:t>Data Standardization
</a:t>
            </a:r>
            <a:endParaRPr dirty="0" sz="1400" lang="en-US"/>
          </a:p>
        </p:txBody>
      </p:sp>
      <p:sp>
        <p:nvSpPr>
          <p:cNvPr id="1048616" name="Text 6"/>
          <p:cNvSpPr/>
          <p:nvPr/>
        </p:nvSpPr>
        <p:spPr>
          <a:xfrm>
            <a:off x="599425" y="4587124"/>
            <a:ext cx="3552101" cy="773411"/>
          </a:xfrm>
          <a:prstGeom prst="rect"/>
          <a:noFill/>
        </p:spPr>
        <p:txBody>
          <a:bodyPr anchor="t" bIns="1016" lIns="1016" rIns="1016" rtlCol="0" tIns="1016" wrap="square"/>
          <a:p>
            <a:pPr indent="0" marL="0">
              <a:lnSpc>
                <a:spcPct val="145000"/>
              </a:lnSpc>
              <a:buNone/>
            </a:pPr>
            <a:r>
              <a:rPr dirty="0" sz="1300" lang="en-US">
                <a:solidFill>
                  <a:srgbClr val="454B63"/>
                </a:solidFill>
                <a:latin typeface="Segoe UI" pitchFamily="34" charset="0"/>
                <a:ea typeface="Segoe UI" pitchFamily="34" charset="-122"/>
                <a:cs typeface="Segoe UI" pitchFamily="34" charset="-120"/>
              </a:rPr>
              <a:t>Standardized formats and handled null entries, enhancing data consistency for analysis.
</a:t>
            </a:r>
            <a:endParaRPr dirty="0" sz="1300" lang="en-US"/>
          </a:p>
        </p:txBody>
      </p:sp>
      <p:sp>
        <p:nvSpPr>
          <p:cNvPr id="1048617" name="Text 7"/>
          <p:cNvSpPr/>
          <p:nvPr/>
        </p:nvSpPr>
        <p:spPr>
          <a:xfrm>
            <a:off x="4771270" y="4282332"/>
            <a:ext cx="3552101" cy="253992"/>
          </a:xfrm>
          <a:prstGeom prst="rect"/>
          <a:noFill/>
        </p:spPr>
        <p:txBody>
          <a:bodyPr anchor="t" bIns="1016" lIns="1016" rIns="1016" rtlCol="0" tIns="1016" wrap="square"/>
          <a:p>
            <a:pPr indent="0" marL="0">
              <a:lnSpc>
                <a:spcPct val="125000"/>
              </a:lnSpc>
              <a:buNone/>
            </a:pPr>
            <a:r>
              <a:rPr b="1" dirty="0" sz="1400" lang="en-US">
                <a:solidFill>
                  <a:srgbClr val="2B3150"/>
                </a:solidFill>
                <a:latin typeface="Segoe UI" pitchFamily="34" charset="0"/>
                <a:ea typeface="Segoe UI" pitchFamily="34" charset="-122"/>
                <a:cs typeface="Segoe UI" pitchFamily="34" charset="-120"/>
              </a:rPr>
              <a:t>Structured Data Outcome
</a:t>
            </a:r>
            <a:endParaRPr dirty="0" sz="1400" lang="en-US"/>
          </a:p>
        </p:txBody>
      </p:sp>
      <p:sp>
        <p:nvSpPr>
          <p:cNvPr id="1048618" name="Text 8"/>
          <p:cNvSpPr/>
          <p:nvPr/>
        </p:nvSpPr>
        <p:spPr>
          <a:xfrm>
            <a:off x="4771270" y="4587124"/>
            <a:ext cx="3552101" cy="773411"/>
          </a:xfrm>
          <a:prstGeom prst="rect"/>
          <a:noFill/>
        </p:spPr>
        <p:txBody>
          <a:bodyPr anchor="t" bIns="1016" lIns="1016" rIns="1016" rtlCol="0" tIns="1016" wrap="square"/>
          <a:p>
            <a:pPr indent="0" marL="0">
              <a:lnSpc>
                <a:spcPct val="145000"/>
              </a:lnSpc>
              <a:buNone/>
            </a:pPr>
            <a:r>
              <a:rPr dirty="0" sz="1300" lang="en-US">
                <a:solidFill>
                  <a:srgbClr val="454B63"/>
                </a:solidFill>
                <a:latin typeface="Segoe UI" pitchFamily="34" charset="0"/>
                <a:ea typeface="Segoe UI" pitchFamily="34" charset="-122"/>
                <a:cs typeface="Segoe UI" pitchFamily="34" charset="-120"/>
              </a:rPr>
              <a:t>Transformed fragmented datasets into structured data, ready for analytical modeling and evaluation.
</a:t>
            </a:r>
            <a:endParaRPr dirty="0" sz="1300" lang="en-US"/>
          </a:p>
        </p:txBody>
      </p:sp>
      <p:sp>
        <p:nvSpPr>
          <p:cNvPr id="1048619" name="Text 9"/>
          <p:cNvSpPr/>
          <p:nvPr/>
        </p:nvSpPr>
        <p:spPr>
          <a:xfrm>
            <a:off x="10669638" y="6578435"/>
            <a:ext cx="1369661" cy="177798"/>
          </a:xfrm>
          <a:prstGeom prst="rect"/>
          <a:noFill/>
        </p:spPr>
        <p:txBody>
          <a:bodyPr anchor="t" bIns="1016" lIns="1016" rIns="1016" rtlCol="0" tIns="1016" wrap="square"/>
          <a:p>
            <a:pPr indent="0" marL="0">
              <a:lnSpc>
                <a:spcPct val="140000"/>
              </a:lnSpc>
              <a:buNone/>
            </a:pPr>
            <a:r>
              <a:rPr dirty="0" sz="900" lang="en-US">
                <a:solidFill>
                  <a:srgbClr val="FFFFFF"/>
                </a:solidFill>
                <a:latin typeface="Segoe UI" pitchFamily="34" charset="0"/>
                <a:ea typeface="Segoe UI" pitchFamily="34" charset="-122"/>
                <a:cs typeface="Segoe UI" pitchFamily="34" charset="-120"/>
              </a:rPr>
              <a:t>Photo by Luke Chesser
</a:t>
            </a:r>
            <a:endParaRPr dirty="0" sz="900" lang="en-US"/>
          </a:p>
        </p:txBody>
      </p:sp>
      <p:sp>
        <p:nvSpPr>
          <p:cNvPr id="1048620" name="Text 10"/>
          <p:cNvSpPr/>
          <p:nvPr/>
        </p:nvSpPr>
        <p:spPr>
          <a:xfrm>
            <a:off x="380990" y="1324574"/>
            <a:ext cx="8140496" cy="396230"/>
          </a:xfrm>
          <a:prstGeom prst="rect"/>
          <a:noFill/>
        </p:spPr>
        <p:txBody>
          <a:bodyPr anchor="t" bIns="1016" lIns="1016" rIns="1016" rtlCol="0" tIns="1016" wrap="square"/>
          <a:p>
            <a:pPr indent="0" marL="0">
              <a:lnSpc>
                <a:spcPct val="120000"/>
              </a:lnSpc>
              <a:buNone/>
            </a:pPr>
            <a:r>
              <a:rPr b="1" dirty="0" sz="2300" lang="en-US">
                <a:solidFill>
                  <a:srgbClr val="2B3150"/>
                </a:solidFill>
                <a:latin typeface="Segoe UI" pitchFamily="34" charset="0"/>
                <a:ea typeface="Segoe UI" pitchFamily="34" charset="-122"/>
                <a:cs typeface="Segoe UI" pitchFamily="34" charset="-120"/>
              </a:rPr>
              <a:t>Transforming Messy Data into Meaningful Insights
</a:t>
            </a:r>
            <a:endParaRPr dirty="0" sz="2300" lang="en-US"/>
          </a:p>
        </p:txBody>
      </p:sp>
      <p:pic>
        <p:nvPicPr>
          <p:cNvPr id="2097187" name="Image 6" descr="preencoded.png"/>
          <p:cNvPicPr>
            <a:picLocks noChangeAspect="1"/>
          </p:cNvPicPr>
          <p:nvPr/>
        </p:nvPicPr>
        <p:blipFill>
          <a:blip xmlns:r="http://schemas.openxmlformats.org/officeDocument/2006/relationships"/>
          <a:stretch>
            <a:fillRect/>
          </a:stretch>
        </p:blipFill>
        <p:spPr>
          <a:xfrm>
            <a:off x="589265" y="2061157"/>
            <a:ext cx="228594" cy="228594"/>
          </a:xfrm>
          <a:prstGeom prst="rect"/>
        </p:spPr>
      </p:pic>
      <p:pic>
        <p:nvPicPr>
          <p:cNvPr id="2097188" name="Image 7" descr="preencoded.png"/>
          <p:cNvPicPr>
            <a:picLocks noChangeAspect="1"/>
          </p:cNvPicPr>
          <p:nvPr/>
        </p:nvPicPr>
        <p:blipFill>
          <a:blip xmlns:r="http://schemas.openxmlformats.org/officeDocument/2006/relationships"/>
          <a:stretch>
            <a:fillRect/>
          </a:stretch>
        </p:blipFill>
        <p:spPr>
          <a:xfrm>
            <a:off x="4761110" y="2061157"/>
            <a:ext cx="228594" cy="228594"/>
          </a:xfrm>
          <a:prstGeom prst="rect"/>
        </p:spPr>
      </p:pic>
      <p:pic>
        <p:nvPicPr>
          <p:cNvPr id="2097189" name="Image 8" descr="preencoded.png"/>
          <p:cNvPicPr>
            <a:picLocks noChangeAspect="1"/>
          </p:cNvPicPr>
          <p:nvPr/>
        </p:nvPicPr>
        <p:blipFill>
          <a:blip xmlns:r="http://schemas.openxmlformats.org/officeDocument/2006/relationships"/>
          <a:stretch>
            <a:fillRect/>
          </a:stretch>
        </p:blipFill>
        <p:spPr>
          <a:xfrm>
            <a:off x="589265" y="3967382"/>
            <a:ext cx="228594" cy="228594"/>
          </a:xfrm>
          <a:prstGeom prst="rect"/>
        </p:spPr>
      </p:pic>
      <p:pic>
        <p:nvPicPr>
          <p:cNvPr id="2097190" name="Image 9" descr="preencoded.png"/>
          <p:cNvPicPr>
            <a:picLocks noChangeAspect="1"/>
          </p:cNvPicPr>
          <p:nvPr/>
        </p:nvPicPr>
        <p:blipFill>
          <a:blip xmlns:r="http://schemas.openxmlformats.org/officeDocument/2006/relationships"/>
          <a:stretch>
            <a:fillRect/>
          </a:stretch>
        </p:blipFill>
        <p:spPr>
          <a:xfrm>
            <a:off x="4761110" y="3967382"/>
            <a:ext cx="228594" cy="228594"/>
          </a:xfrm>
          <a:prstGeom prst="rect"/>
        </p:spPr>
      </p:pic>
      <p:pic>
        <p:nvPicPr>
          <p:cNvPr id="2097191" name="Image 10" descr="preencoded.png"/>
          <p:cNvPicPr>
            <a:picLocks noChangeAspect="1"/>
          </p:cNvPicPr>
          <p:nvPr/>
        </p:nvPicPr>
        <p:blipFill>
          <a:blip xmlns:r="http://schemas.openxmlformats.org/officeDocument/2006/relationships" r:embed="rId7"/>
          <a:srcRect/>
          <a:stretch>
            <a:fillRect/>
          </a:stretch>
        </p:blipFill>
        <p:spPr>
          <a:xfrm>
            <a:off x="8775480" y="0"/>
            <a:ext cx="3370495" cy="6812280"/>
          </a:xfrm>
          <a:prstGeom prst="rec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FA"/>
        </a:solidFill>
        <a:effectLst/>
      </p:bgPr>
    </p:bg>
    <p:spTree>
      <p:nvGrpSpPr>
        <p:cNvPr id="28" name=""/>
        <p:cNvGrpSpPr/>
        <p:nvPr/>
      </p:nvGrpSpPr>
      <p:grpSpPr>
        <a:xfrm>
          <a:off x="0" y="0"/>
          <a:ext cx="0" cy="0"/>
          <a:chOff x="0" y="0"/>
          <a:chExt cx="0" cy="0"/>
        </a:xfrm>
      </p:grpSpPr>
      <p:pic>
        <p:nvPicPr>
          <p:cNvPr id="2097192" name="Image 0" descr="preencoded.png"/>
          <p:cNvPicPr>
            <a:picLocks noChangeAspect="1"/>
          </p:cNvPicPr>
          <p:nvPr/>
        </p:nvPicPr>
        <p:blipFill>
          <a:blip xmlns:r="http://schemas.openxmlformats.org/officeDocument/2006/relationships" r:embed="rId1"/>
          <a:stretch>
            <a:fillRect/>
          </a:stretch>
        </p:blipFill>
        <p:spPr>
          <a:xfrm>
            <a:off x="8381790" y="1904952"/>
            <a:ext cx="3764185" cy="4907328"/>
          </a:xfrm>
          <a:prstGeom prst="rect"/>
        </p:spPr>
      </p:pic>
      <p:pic>
        <p:nvPicPr>
          <p:cNvPr id="2097193" name="Image 1" descr="preencoded.png"/>
          <p:cNvPicPr>
            <a:picLocks noChangeAspect="1"/>
          </p:cNvPicPr>
          <p:nvPr/>
        </p:nvPicPr>
        <p:blipFill>
          <a:blip xmlns:r="http://schemas.openxmlformats.org/officeDocument/2006/relationships" r:embed="rId2"/>
          <a:stretch>
            <a:fillRect/>
          </a:stretch>
        </p:blipFill>
        <p:spPr>
          <a:xfrm>
            <a:off x="-1269968" y="1904952"/>
            <a:ext cx="5079873" cy="4907328"/>
          </a:xfrm>
          <a:prstGeom prst="rect"/>
        </p:spPr>
      </p:pic>
      <p:sp>
        <p:nvSpPr>
          <p:cNvPr id="1048624" name="Shape 0"/>
          <p:cNvSpPr/>
          <p:nvPr/>
        </p:nvSpPr>
        <p:spPr>
          <a:xfrm>
            <a:off x="761981" y="2303084"/>
            <a:ext cx="5181470" cy="2886636"/>
          </a:xfrm>
          <a:prstGeom prst="roundRect">
            <a:avLst>
              <a:gd name="adj" fmla="val 6159"/>
            </a:avLst>
          </a:prstGeom>
          <a:solidFill>
            <a:srgbClr val="5B3FD6">
              <a:alpha val="8000"/>
            </a:srgbClr>
          </a:solidFill>
          <a:ln w="10160">
            <a:solidFill>
              <a:srgbClr val="5B3FD6">
                <a:alpha val="20000"/>
              </a:srgbClr>
            </a:solidFill>
            <a:prstDash val="solid"/>
          </a:ln>
        </p:spPr>
      </p:sp>
      <p:sp>
        <p:nvSpPr>
          <p:cNvPr id="1048625" name="Shape 1"/>
          <p:cNvSpPr/>
          <p:nvPr/>
        </p:nvSpPr>
        <p:spPr>
          <a:xfrm>
            <a:off x="6248244" y="2303084"/>
            <a:ext cx="5181470" cy="2886636"/>
          </a:xfrm>
          <a:prstGeom prst="roundRect">
            <a:avLst>
              <a:gd name="adj" fmla="val 6159"/>
            </a:avLst>
          </a:prstGeom>
          <a:solidFill>
            <a:srgbClr val="8B5CF6">
              <a:alpha val="8000"/>
            </a:srgbClr>
          </a:solidFill>
          <a:ln w="10160">
            <a:solidFill>
              <a:srgbClr val="8B5CF6">
                <a:alpha val="20000"/>
              </a:srgbClr>
            </a:solidFill>
            <a:prstDash val="solid"/>
          </a:ln>
        </p:spPr>
      </p:sp>
      <p:pic>
        <p:nvPicPr>
          <p:cNvPr id="2097194" name="Image 2" descr="preencoded.png"/>
          <p:cNvPicPr>
            <a:picLocks noChangeAspect="1"/>
          </p:cNvPicPr>
          <p:nvPr/>
        </p:nvPicPr>
        <p:blipFill>
          <a:blip xmlns:r="http://schemas.openxmlformats.org/officeDocument/2006/relationships" r:embed="rId3"/>
          <a:stretch>
            <a:fillRect/>
          </a:stretch>
        </p:blipFill>
        <p:spPr>
          <a:xfrm>
            <a:off x="4190895" y="1269968"/>
            <a:ext cx="3809905" cy="63498"/>
          </a:xfrm>
          <a:prstGeom prst="rect"/>
        </p:spPr>
      </p:pic>
      <p:sp>
        <p:nvSpPr>
          <p:cNvPr id="1048626" name="Text 2"/>
          <p:cNvSpPr/>
          <p:nvPr/>
        </p:nvSpPr>
        <p:spPr>
          <a:xfrm>
            <a:off x="1015975" y="634984"/>
            <a:ext cx="10159746" cy="888978"/>
          </a:xfrm>
          <a:prstGeom prst="rect"/>
          <a:noFill/>
        </p:spPr>
        <p:txBody>
          <a:bodyPr anchor="t" bIns="1016" lIns="1016" rIns="1016" rtlCol="0" tIns="1016" wrap="square"/>
          <a:p>
            <a:pPr algn="l" indent="0" marL="0">
              <a:lnSpc>
                <a:spcPct val="130000"/>
              </a:lnSpc>
              <a:buNone/>
            </a:pPr>
            <a:r>
              <a:rPr b="1" dirty="0" sz="2900" lang="en-US">
                <a:solidFill>
                  <a:srgbClr val="1A1F36"/>
                </a:solidFill>
                <a:latin typeface="Segoe UI" pitchFamily="34" charset="0"/>
                <a:ea typeface="Segoe UI" pitchFamily="34" charset="-122"/>
                <a:cs typeface="Segoe UI" pitchFamily="34" charset="-120"/>
              </a:rPr>
              <a:t>Excel vs Power BI for Data Analytics
</a:t>
            </a:r>
            <a:endParaRPr dirty="0" sz="2900" lang="en-US"/>
          </a:p>
        </p:txBody>
      </p:sp>
      <p:sp>
        <p:nvSpPr>
          <p:cNvPr id="1048627" name="Text 3"/>
          <p:cNvSpPr/>
          <p:nvPr/>
        </p:nvSpPr>
        <p:spPr>
          <a:xfrm>
            <a:off x="1000735" y="2516440"/>
            <a:ext cx="4703962" cy="320032"/>
          </a:xfrm>
          <a:prstGeom prst="rect"/>
          <a:noFill/>
        </p:spPr>
        <p:txBody>
          <a:bodyPr anchor="t" bIns="1016" lIns="1016" rIns="1016" rtlCol="0" tIns="1016" wrap="square"/>
          <a:p>
            <a:pPr algn="l" indent="0" marL="0">
              <a:lnSpc>
                <a:spcPct val="120000"/>
              </a:lnSpc>
              <a:buNone/>
            </a:pPr>
            <a:r>
              <a:rPr b="1" dirty="0" sz="1900" lang="en-US">
                <a:solidFill>
                  <a:srgbClr val="5B3FD6"/>
                </a:solidFill>
                <a:latin typeface="Segoe UI" pitchFamily="34" charset="0"/>
                <a:ea typeface="Segoe UI" pitchFamily="34" charset="-122"/>
                <a:cs typeface="Segoe UI" pitchFamily="34" charset="-120"/>
              </a:rPr>
              <a:t>Excel
</a:t>
            </a:r>
            <a:endParaRPr dirty="0" sz="1900" lang="en-US"/>
          </a:p>
        </p:txBody>
      </p:sp>
      <p:sp>
        <p:nvSpPr>
          <p:cNvPr id="1048628" name="Text 4"/>
          <p:cNvSpPr/>
          <p:nvPr/>
        </p:nvSpPr>
        <p:spPr>
          <a:xfrm>
            <a:off x="1254728" y="2988867"/>
            <a:ext cx="4449969" cy="552436"/>
          </a:xfrm>
          <a:prstGeom prst="rect"/>
          <a:noFill/>
        </p:spPr>
        <p:txBody>
          <a:bodyPr anchor="t" bIns="1016" lIns="1016" rIns="1016" rtlCol="0" tIns="1016" wrap="square"/>
          <a:p>
            <a:pPr algn="l" indent="0" marL="0">
              <a:lnSpc>
                <a:spcPct val="145000"/>
              </a:lnSpc>
              <a:buNone/>
            </a:pPr>
            <a:r>
              <a:rPr dirty="0" sz="1400" lang="en-US">
                <a:solidFill>
                  <a:srgbClr val="2B3150"/>
                </a:solidFill>
                <a:latin typeface="Segoe UI" pitchFamily="34" charset="0"/>
                <a:ea typeface="Segoe UI" pitchFamily="34" charset="-122"/>
                <a:cs typeface="Segoe UI" pitchFamily="34" charset="-120"/>
              </a:rPr>
              <a:t>Ideal for preliminary exploration and ad-hoc audits.
</a:t>
            </a:r>
            <a:endParaRPr dirty="0" sz="1400" lang="en-US"/>
          </a:p>
        </p:txBody>
      </p:sp>
      <p:sp>
        <p:nvSpPr>
          <p:cNvPr id="1048629" name="Text 5"/>
          <p:cNvSpPr/>
          <p:nvPr/>
        </p:nvSpPr>
        <p:spPr>
          <a:xfrm>
            <a:off x="1254728" y="3693699"/>
            <a:ext cx="4449969" cy="552436"/>
          </a:xfrm>
          <a:prstGeom prst="rect"/>
          <a:noFill/>
        </p:spPr>
        <p:txBody>
          <a:bodyPr anchor="t" bIns="1016" lIns="1016" rIns="1016" rtlCol="0" tIns="1016" wrap="square"/>
          <a:p>
            <a:pPr algn="l" indent="0" marL="0">
              <a:lnSpc>
                <a:spcPct val="145000"/>
              </a:lnSpc>
              <a:buNone/>
            </a:pPr>
            <a:r>
              <a:rPr dirty="0" sz="1400" lang="en-US">
                <a:solidFill>
                  <a:srgbClr val="2B3150"/>
                </a:solidFill>
                <a:latin typeface="Segoe UI" pitchFamily="34" charset="0"/>
                <a:ea typeface="Segoe UI" pitchFamily="34" charset="-122"/>
                <a:cs typeface="Segoe UI" pitchFamily="34" charset="-120"/>
              </a:rPr>
              <a:t>Utilizes Pivot Tables and XLOOKUP for initial data checks and summaries.
</a:t>
            </a:r>
            <a:endParaRPr dirty="0" sz="1400" lang="en-US"/>
          </a:p>
        </p:txBody>
      </p:sp>
      <p:sp>
        <p:nvSpPr>
          <p:cNvPr id="1048630" name="Text 6"/>
          <p:cNvSpPr/>
          <p:nvPr/>
        </p:nvSpPr>
        <p:spPr>
          <a:xfrm>
            <a:off x="1254728" y="4398532"/>
            <a:ext cx="4449969" cy="552436"/>
          </a:xfrm>
          <a:prstGeom prst="rect"/>
          <a:noFill/>
        </p:spPr>
        <p:txBody>
          <a:bodyPr anchor="t" bIns="1016" lIns="1016" rIns="1016" rtlCol="0" tIns="1016" wrap="square"/>
          <a:p>
            <a:pPr algn="l" indent="0" marL="0">
              <a:lnSpc>
                <a:spcPct val="145000"/>
              </a:lnSpc>
              <a:buNone/>
            </a:pPr>
            <a:r>
              <a:rPr dirty="0" sz="1400" lang="en-US">
                <a:solidFill>
                  <a:srgbClr val="2B3150"/>
                </a:solidFill>
                <a:latin typeface="Segoe UI" pitchFamily="34" charset="0"/>
                <a:ea typeface="Segoe UI" pitchFamily="34" charset="-122"/>
                <a:cs typeface="Segoe UI" pitchFamily="34" charset="-120"/>
              </a:rPr>
              <a:t>Facilitates quick, granular inspections of small to medium datasets.
</a:t>
            </a:r>
            <a:endParaRPr dirty="0" sz="1400" lang="en-US"/>
          </a:p>
        </p:txBody>
      </p:sp>
      <p:sp>
        <p:nvSpPr>
          <p:cNvPr id="1048631" name="Text 7"/>
          <p:cNvSpPr/>
          <p:nvPr/>
        </p:nvSpPr>
        <p:spPr>
          <a:xfrm>
            <a:off x="6486998" y="2516440"/>
            <a:ext cx="4703962" cy="320032"/>
          </a:xfrm>
          <a:prstGeom prst="rect"/>
          <a:noFill/>
        </p:spPr>
        <p:txBody>
          <a:bodyPr anchor="t" bIns="1016" lIns="1016" rIns="1016" rtlCol="0" tIns="1016" wrap="square"/>
          <a:p>
            <a:pPr algn="l" indent="0" marL="0">
              <a:lnSpc>
                <a:spcPct val="120000"/>
              </a:lnSpc>
              <a:buNone/>
            </a:pPr>
            <a:r>
              <a:rPr b="1" dirty="0" sz="1900" lang="en-US">
                <a:solidFill>
                  <a:srgbClr val="8B5CF6"/>
                </a:solidFill>
                <a:latin typeface="Segoe UI" pitchFamily="34" charset="0"/>
                <a:ea typeface="Segoe UI" pitchFamily="34" charset="-122"/>
                <a:cs typeface="Segoe UI" pitchFamily="34" charset="-120"/>
              </a:rPr>
              <a:t>Power BI
</a:t>
            </a:r>
            <a:endParaRPr dirty="0" sz="1900" lang="en-US"/>
          </a:p>
        </p:txBody>
      </p:sp>
      <p:sp>
        <p:nvSpPr>
          <p:cNvPr id="1048632" name="Text 8"/>
          <p:cNvSpPr/>
          <p:nvPr/>
        </p:nvSpPr>
        <p:spPr>
          <a:xfrm>
            <a:off x="6740991" y="2988867"/>
            <a:ext cx="4449968" cy="552436"/>
          </a:xfrm>
          <a:prstGeom prst="rect"/>
          <a:noFill/>
        </p:spPr>
        <p:txBody>
          <a:bodyPr anchor="t" bIns="1016" lIns="1016" rIns="1016" rtlCol="0" tIns="1016" wrap="square"/>
          <a:p>
            <a:pPr algn="l" indent="0" marL="0">
              <a:lnSpc>
                <a:spcPct val="145000"/>
              </a:lnSpc>
              <a:buNone/>
            </a:pPr>
            <a:r>
              <a:rPr dirty="0" sz="1400" lang="en-US">
                <a:solidFill>
                  <a:srgbClr val="2B3150"/>
                </a:solidFill>
                <a:latin typeface="Segoe UI" pitchFamily="34" charset="0"/>
                <a:ea typeface="Segoe UI" pitchFamily="34" charset="-122"/>
                <a:cs typeface="Segoe UI" pitchFamily="34" charset="-120"/>
              </a:rPr>
              <a:t>Automates workflows and handles large datasets without row-count limits.
</a:t>
            </a:r>
            <a:endParaRPr dirty="0" sz="1400" lang="en-US"/>
          </a:p>
        </p:txBody>
      </p:sp>
      <p:sp>
        <p:nvSpPr>
          <p:cNvPr id="1048633" name="Text 9"/>
          <p:cNvSpPr/>
          <p:nvPr/>
        </p:nvSpPr>
        <p:spPr>
          <a:xfrm>
            <a:off x="6740991" y="3693699"/>
            <a:ext cx="4449968" cy="552436"/>
          </a:xfrm>
          <a:prstGeom prst="rect"/>
          <a:noFill/>
        </p:spPr>
        <p:txBody>
          <a:bodyPr anchor="t" bIns="1016" lIns="1016" rIns="1016" rtlCol="0" tIns="1016" wrap="square"/>
          <a:p>
            <a:pPr algn="l" indent="0" marL="0">
              <a:lnSpc>
                <a:spcPct val="145000"/>
              </a:lnSpc>
              <a:buNone/>
            </a:pPr>
            <a:r>
              <a:rPr dirty="0" sz="1400" lang="en-US">
                <a:solidFill>
                  <a:srgbClr val="2B3150"/>
                </a:solidFill>
                <a:latin typeface="Segoe UI" pitchFamily="34" charset="0"/>
                <a:ea typeface="Segoe UI" pitchFamily="34" charset="-122"/>
                <a:cs typeface="Segoe UI" pitchFamily="34" charset="-120"/>
              </a:rPr>
              <a:t>Enables dynamic multi-table data modeling and high-performance in-memory processing.
</a:t>
            </a:r>
            <a:endParaRPr dirty="0" sz="1400" lang="en-US"/>
          </a:p>
        </p:txBody>
      </p:sp>
      <p:sp>
        <p:nvSpPr>
          <p:cNvPr id="1048634" name="Text 10"/>
          <p:cNvSpPr/>
          <p:nvPr/>
        </p:nvSpPr>
        <p:spPr>
          <a:xfrm>
            <a:off x="6740991" y="4398532"/>
            <a:ext cx="4449968" cy="552436"/>
          </a:xfrm>
          <a:prstGeom prst="rect"/>
          <a:noFill/>
        </p:spPr>
        <p:txBody>
          <a:bodyPr anchor="t" bIns="1016" lIns="1016" rIns="1016" rtlCol="0" tIns="1016" wrap="square"/>
          <a:p>
            <a:pPr algn="l" indent="0" marL="0">
              <a:lnSpc>
                <a:spcPct val="145000"/>
              </a:lnSpc>
              <a:buNone/>
            </a:pPr>
            <a:r>
              <a:rPr dirty="0" sz="1400" lang="en-US">
                <a:solidFill>
                  <a:srgbClr val="2B3150"/>
                </a:solidFill>
                <a:latin typeface="Segoe UI" pitchFamily="34" charset="0"/>
                <a:ea typeface="Segoe UI" pitchFamily="34" charset="-122"/>
                <a:cs typeface="Segoe UI" pitchFamily="34" charset="-120"/>
              </a:rPr>
              <a:t>Provides advanced visualizations and interactive dashboards for enterprise-scale analytics.
</a:t>
            </a:r>
            <a:endParaRPr dirty="0" sz="1400" lang="en-US"/>
          </a:p>
        </p:txBody>
      </p:sp>
      <p:sp>
        <p:nvSpPr>
          <p:cNvPr id="1048635" name="Shape 11"/>
          <p:cNvSpPr/>
          <p:nvPr/>
        </p:nvSpPr>
        <p:spPr>
          <a:xfrm>
            <a:off x="1000735" y="3077768"/>
            <a:ext cx="101597" cy="101596"/>
          </a:xfrm>
          <a:prstGeom prst="ellipse"/>
          <a:solidFill>
            <a:srgbClr val="5B3FD6"/>
          </a:solidFill>
        </p:spPr>
      </p:sp>
      <p:sp>
        <p:nvSpPr>
          <p:cNvPr id="1048636" name="Shape 12"/>
          <p:cNvSpPr/>
          <p:nvPr/>
        </p:nvSpPr>
        <p:spPr>
          <a:xfrm>
            <a:off x="1000735" y="3782601"/>
            <a:ext cx="101597" cy="101596"/>
          </a:xfrm>
          <a:prstGeom prst="ellipse"/>
          <a:solidFill>
            <a:srgbClr val="5B3FD6"/>
          </a:solidFill>
        </p:spPr>
      </p:sp>
      <p:sp>
        <p:nvSpPr>
          <p:cNvPr id="1048637" name="Shape 13"/>
          <p:cNvSpPr/>
          <p:nvPr/>
        </p:nvSpPr>
        <p:spPr>
          <a:xfrm>
            <a:off x="1000735" y="4487433"/>
            <a:ext cx="101597" cy="101596"/>
          </a:xfrm>
          <a:prstGeom prst="ellipse"/>
          <a:solidFill>
            <a:srgbClr val="5B3FD6"/>
          </a:solidFill>
        </p:spPr>
      </p:sp>
      <p:sp>
        <p:nvSpPr>
          <p:cNvPr id="1048638" name="Shape 14"/>
          <p:cNvSpPr/>
          <p:nvPr/>
        </p:nvSpPr>
        <p:spPr>
          <a:xfrm>
            <a:off x="6486998" y="3077768"/>
            <a:ext cx="101598" cy="101596"/>
          </a:xfrm>
          <a:prstGeom prst="ellipse"/>
          <a:solidFill>
            <a:srgbClr val="8B5CF6"/>
          </a:solidFill>
        </p:spPr>
      </p:sp>
      <p:sp>
        <p:nvSpPr>
          <p:cNvPr id="1048639" name="Shape 15"/>
          <p:cNvSpPr/>
          <p:nvPr/>
        </p:nvSpPr>
        <p:spPr>
          <a:xfrm>
            <a:off x="6486998" y="3782601"/>
            <a:ext cx="101598" cy="101596"/>
          </a:xfrm>
          <a:prstGeom prst="ellipse"/>
          <a:solidFill>
            <a:srgbClr val="8B5CF6"/>
          </a:solidFill>
        </p:spPr>
      </p:sp>
      <p:sp>
        <p:nvSpPr>
          <p:cNvPr id="1048640" name="Shape 16"/>
          <p:cNvSpPr/>
          <p:nvPr/>
        </p:nvSpPr>
        <p:spPr>
          <a:xfrm>
            <a:off x="6486998" y="4487433"/>
            <a:ext cx="101598" cy="101596"/>
          </a:xfrm>
          <a:prstGeom prst="ellipse"/>
          <a:solidFill>
            <a:srgbClr val="8B5CF6"/>
          </a:solid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FA"/>
        </a:solidFill>
        <a:effectLst/>
      </p:bgPr>
    </p:bg>
    <p:spTree>
      <p:nvGrpSpPr>
        <p:cNvPr id="31" name=""/>
        <p:cNvGrpSpPr/>
        <p:nvPr/>
      </p:nvGrpSpPr>
      <p:grpSpPr>
        <a:xfrm>
          <a:off x="0" y="0"/>
          <a:ext cx="0" cy="0"/>
          <a:chOff x="0" y="0"/>
          <a:chExt cx="0" cy="0"/>
        </a:xfrm>
      </p:grpSpPr>
      <p:pic>
        <p:nvPicPr>
          <p:cNvPr id="2097195" name="Image 0" descr="preencoded.png"/>
          <p:cNvPicPr>
            <a:picLocks noChangeAspect="1"/>
          </p:cNvPicPr>
          <p:nvPr/>
        </p:nvPicPr>
        <p:blipFill>
          <a:blip xmlns:r="http://schemas.openxmlformats.org/officeDocument/2006/relationships" r:embed="rId1"/>
          <a:stretch>
            <a:fillRect/>
          </a:stretch>
        </p:blipFill>
        <p:spPr>
          <a:xfrm>
            <a:off x="0" y="5079873"/>
            <a:ext cx="12145975" cy="1732407"/>
          </a:xfrm>
          <a:prstGeom prst="rect"/>
        </p:spPr>
      </p:pic>
      <p:pic>
        <p:nvPicPr>
          <p:cNvPr id="2097196" name="Image 1" descr="preencoded.png"/>
          <p:cNvPicPr>
            <a:picLocks noChangeAspect="1"/>
          </p:cNvPicPr>
          <p:nvPr/>
        </p:nvPicPr>
        <p:blipFill>
          <a:blip xmlns:r="http://schemas.openxmlformats.org/officeDocument/2006/relationships" r:embed="rId2"/>
          <a:stretch>
            <a:fillRect/>
          </a:stretch>
        </p:blipFill>
        <p:spPr>
          <a:xfrm>
            <a:off x="-1269968" y="1904952"/>
            <a:ext cx="5079873" cy="4907328"/>
          </a:xfrm>
          <a:prstGeom prst="rect"/>
        </p:spPr>
      </p:pic>
      <p:pic>
        <p:nvPicPr>
          <p:cNvPr id="2097197" name="Image 2" descr="preencoded.png"/>
          <p:cNvPicPr>
            <a:picLocks noChangeAspect="1"/>
          </p:cNvPicPr>
          <p:nvPr/>
        </p:nvPicPr>
        <p:blipFill>
          <a:blip xmlns:r="http://schemas.openxmlformats.org/officeDocument/2006/relationships" r:embed="rId3"/>
          <a:stretch>
            <a:fillRect/>
          </a:stretch>
        </p:blipFill>
        <p:spPr>
          <a:xfrm>
            <a:off x="7619810" y="2539937"/>
            <a:ext cx="4526166" cy="4272344"/>
          </a:xfrm>
          <a:prstGeom prst="rect"/>
        </p:spPr>
      </p:pic>
      <p:sp>
        <p:nvSpPr>
          <p:cNvPr id="1048644" name="Shape 0"/>
          <p:cNvSpPr/>
          <p:nvPr/>
        </p:nvSpPr>
        <p:spPr>
          <a:xfrm>
            <a:off x="4394090" y="1946862"/>
            <a:ext cx="7035625" cy="1115031"/>
          </a:xfrm>
          <a:prstGeom prst="roundRect">
            <a:avLst>
              <a:gd name="adj" fmla="val 20501"/>
            </a:avLst>
          </a:prstGeom>
          <a:solidFill>
            <a:srgbClr val="000000">
              <a:alpha val="0"/>
            </a:srgbClr>
          </a:solidFill>
          <a:ln w="10160">
            <a:solidFill>
              <a:srgbClr val="5B3FD6"/>
            </a:solidFill>
            <a:prstDash val="solid"/>
          </a:ln>
        </p:spPr>
      </p:sp>
      <p:sp>
        <p:nvSpPr>
          <p:cNvPr id="1048645" name="Shape 1"/>
          <p:cNvSpPr/>
          <p:nvPr/>
        </p:nvSpPr>
        <p:spPr>
          <a:xfrm>
            <a:off x="4724282" y="3188892"/>
            <a:ext cx="6705432" cy="1115031"/>
          </a:xfrm>
          <a:prstGeom prst="roundRect">
            <a:avLst>
              <a:gd name="adj" fmla="val 20501"/>
            </a:avLst>
          </a:prstGeom>
          <a:solidFill>
            <a:srgbClr val="000000">
              <a:alpha val="0"/>
            </a:srgbClr>
          </a:solidFill>
          <a:ln w="10160">
            <a:solidFill>
              <a:srgbClr val="2B3150">
                <a:alpha val="18000"/>
              </a:srgbClr>
            </a:solidFill>
            <a:prstDash val="solid"/>
          </a:ln>
        </p:spPr>
      </p:sp>
      <p:sp>
        <p:nvSpPr>
          <p:cNvPr id="1048646" name="Shape 2"/>
          <p:cNvSpPr/>
          <p:nvPr/>
        </p:nvSpPr>
        <p:spPr>
          <a:xfrm>
            <a:off x="5054473" y="4430922"/>
            <a:ext cx="6375241" cy="1115031"/>
          </a:xfrm>
          <a:prstGeom prst="roundRect">
            <a:avLst>
              <a:gd name="adj" fmla="val 20501"/>
            </a:avLst>
          </a:prstGeom>
          <a:solidFill>
            <a:srgbClr val="000000">
              <a:alpha val="0"/>
            </a:srgbClr>
          </a:solidFill>
          <a:ln w="10160">
            <a:solidFill>
              <a:srgbClr val="2B3150">
                <a:alpha val="18000"/>
              </a:srgbClr>
            </a:solidFill>
            <a:prstDash val="solid"/>
          </a:ln>
        </p:spPr>
      </p:sp>
      <p:pic>
        <p:nvPicPr>
          <p:cNvPr id="2097198" name="Image 3" descr="preencoded.png"/>
          <p:cNvPicPr>
            <a:picLocks noChangeAspect="1"/>
          </p:cNvPicPr>
          <p:nvPr/>
        </p:nvPicPr>
        <p:blipFill>
          <a:blip xmlns:r="http://schemas.openxmlformats.org/officeDocument/2006/relationships" r:embed="rId4"/>
          <a:stretch>
            <a:fillRect/>
          </a:stretch>
        </p:blipFill>
        <p:spPr>
          <a:xfrm>
            <a:off x="761981" y="4825879"/>
            <a:ext cx="2031949" cy="1986401"/>
          </a:xfrm>
          <a:prstGeom prst="rect"/>
        </p:spPr>
      </p:pic>
      <p:pic>
        <p:nvPicPr>
          <p:cNvPr id="2097199" name="Image 4" descr="preencoded.png"/>
          <p:cNvPicPr>
            <a:picLocks noChangeAspect="1"/>
          </p:cNvPicPr>
          <p:nvPr/>
        </p:nvPicPr>
        <p:blipFill>
          <a:blip xmlns:r="http://schemas.openxmlformats.org/officeDocument/2006/relationships" r:embed="rId5"/>
          <a:stretch>
            <a:fillRect/>
          </a:stretch>
        </p:blipFill>
        <p:spPr>
          <a:xfrm>
            <a:off x="10159746" y="634984"/>
            <a:ext cx="1777956" cy="1777956"/>
          </a:xfrm>
          <a:prstGeom prst="rect"/>
        </p:spPr>
      </p:pic>
      <p:pic>
        <p:nvPicPr>
          <p:cNvPr id="2097200" name="Image 5" descr="preencoded.png"/>
          <p:cNvPicPr>
            <a:picLocks noChangeAspect="1"/>
          </p:cNvPicPr>
          <p:nvPr/>
        </p:nvPicPr>
        <p:blipFill>
          <a:blip xmlns:r="http://schemas.openxmlformats.org/officeDocument/2006/relationships" r:embed="rId6"/>
          <a:stretch>
            <a:fillRect/>
          </a:stretch>
        </p:blipFill>
        <p:spPr>
          <a:xfrm>
            <a:off x="1015975" y="1650959"/>
            <a:ext cx="1523962" cy="50799"/>
          </a:xfrm>
          <a:prstGeom prst="rect"/>
        </p:spPr>
      </p:pic>
      <p:sp>
        <p:nvSpPr>
          <p:cNvPr id="1048647" name="Text 3"/>
          <p:cNvSpPr/>
          <p:nvPr/>
        </p:nvSpPr>
        <p:spPr>
          <a:xfrm>
            <a:off x="1015975" y="634984"/>
            <a:ext cx="10159746" cy="1142971"/>
          </a:xfrm>
          <a:prstGeom prst="rect"/>
          <a:noFill/>
        </p:spPr>
        <p:txBody>
          <a:bodyPr anchor="t" bIns="1016" lIns="1016" rIns="1016" rtlCol="0" tIns="1016" wrap="square"/>
          <a:p>
            <a:pPr algn="l" indent="0" marL="0">
              <a:lnSpc>
                <a:spcPct val="120000"/>
              </a:lnSpc>
              <a:buNone/>
            </a:pPr>
            <a:r>
              <a:rPr b="1" dirty="0" sz="2900" lang="en-US">
                <a:solidFill>
                  <a:srgbClr val="1A1F36"/>
                </a:solidFill>
                <a:latin typeface="Segoe UI" pitchFamily="34" charset="0"/>
                <a:ea typeface="Segoe UI" pitchFamily="34" charset="-122"/>
                <a:cs typeface="Segoe UI" pitchFamily="34" charset="-120"/>
              </a:rPr>
              <a:t>Analytical Data Modeling &amp; Business Calculations
</a:t>
            </a:r>
            <a:endParaRPr dirty="0" sz="2900" lang="en-US"/>
          </a:p>
        </p:txBody>
      </p:sp>
      <p:sp>
        <p:nvSpPr>
          <p:cNvPr id="1048648" name="Text 4"/>
          <p:cNvSpPr/>
          <p:nvPr/>
        </p:nvSpPr>
        <p:spPr>
          <a:xfrm>
            <a:off x="5252588" y="2094177"/>
            <a:ext cx="5928212" cy="253996"/>
          </a:xfrm>
          <a:prstGeom prst="rect"/>
          <a:noFill/>
        </p:spPr>
        <p:txBody>
          <a:bodyPr anchor="t" bIns="1016" lIns="1016" rIns="1016" rtlCol="0" tIns="1016" wrap="square"/>
          <a:p>
            <a:pPr indent="0" marL="0">
              <a:lnSpc>
                <a:spcPct val="125000"/>
              </a:lnSpc>
              <a:buNone/>
            </a:pPr>
            <a:r>
              <a:rPr b="1" dirty="0" sz="1400" lang="en-US">
                <a:solidFill>
                  <a:srgbClr val="2B3150"/>
                </a:solidFill>
                <a:latin typeface="Segoe UI" pitchFamily="34" charset="0"/>
                <a:ea typeface="Segoe UI" pitchFamily="34" charset="-122"/>
                <a:cs typeface="Segoe UI" pitchFamily="34" charset="-120"/>
              </a:rPr>
              <a:t>High-Performance Star Schema
</a:t>
            </a:r>
            <a:endParaRPr dirty="0" sz="1400" lang="en-US"/>
          </a:p>
        </p:txBody>
      </p:sp>
      <p:sp>
        <p:nvSpPr>
          <p:cNvPr id="1048649" name="Text 5"/>
          <p:cNvSpPr/>
          <p:nvPr/>
        </p:nvSpPr>
        <p:spPr>
          <a:xfrm>
            <a:off x="5252588" y="2398970"/>
            <a:ext cx="5928212" cy="515609"/>
          </a:xfrm>
          <a:prstGeom prst="rect"/>
          <a:noFill/>
        </p:spPr>
        <p:txBody>
          <a:bodyPr anchor="t" bIns="1016" lIns="1016" rIns="1016" rtlCol="0" tIns="1016" wrap="square"/>
          <a:p>
            <a:pPr indent="0" marL="0">
              <a:lnSpc>
                <a:spcPct val="145000"/>
              </a:lnSpc>
              <a:buNone/>
            </a:pPr>
            <a:r>
              <a:rPr dirty="0" sz="1300" lang="en-US">
                <a:solidFill>
                  <a:srgbClr val="454B63"/>
                </a:solidFill>
                <a:latin typeface="Segoe UI" pitchFamily="34" charset="0"/>
                <a:ea typeface="Segoe UI" pitchFamily="34" charset="-122"/>
                <a:cs typeface="Segoe UI" pitchFamily="34" charset="-120"/>
              </a:rPr>
              <a:t>Implemented a Star Schema to optimize data retrieval and analysis efficiency.
</a:t>
            </a:r>
            <a:endParaRPr dirty="0" sz="1300" lang="en-US"/>
          </a:p>
        </p:txBody>
      </p:sp>
      <p:sp>
        <p:nvSpPr>
          <p:cNvPr id="1048650" name="Text 6"/>
          <p:cNvSpPr/>
          <p:nvPr/>
        </p:nvSpPr>
        <p:spPr>
          <a:xfrm>
            <a:off x="5582781" y="3336207"/>
            <a:ext cx="5598020" cy="253996"/>
          </a:xfrm>
          <a:prstGeom prst="rect"/>
          <a:noFill/>
        </p:spPr>
        <p:txBody>
          <a:bodyPr anchor="t" bIns="1016" lIns="1016" rIns="1016" rtlCol="0" tIns="1016" wrap="square"/>
          <a:p>
            <a:pPr indent="0" marL="0">
              <a:lnSpc>
                <a:spcPct val="125000"/>
              </a:lnSpc>
              <a:buNone/>
            </a:pPr>
            <a:r>
              <a:rPr b="1" dirty="0" sz="1400" lang="en-US">
                <a:solidFill>
                  <a:srgbClr val="2B3150"/>
                </a:solidFill>
                <a:latin typeface="Segoe UI" pitchFamily="34" charset="0"/>
                <a:ea typeface="Segoe UI" pitchFamily="34" charset="-122"/>
                <a:cs typeface="Segoe UI" pitchFamily="34" charset="-120"/>
              </a:rPr>
              <a:t>1-to-Many Relationships
</a:t>
            </a:r>
            <a:endParaRPr dirty="0" sz="1400" lang="en-US"/>
          </a:p>
        </p:txBody>
      </p:sp>
      <p:sp>
        <p:nvSpPr>
          <p:cNvPr id="1048651" name="Text 7"/>
          <p:cNvSpPr/>
          <p:nvPr/>
        </p:nvSpPr>
        <p:spPr>
          <a:xfrm>
            <a:off x="5582781" y="3641000"/>
            <a:ext cx="5598020" cy="515609"/>
          </a:xfrm>
          <a:prstGeom prst="rect"/>
          <a:noFill/>
        </p:spPr>
        <p:txBody>
          <a:bodyPr anchor="t" bIns="1016" lIns="1016" rIns="1016" rtlCol="0" tIns="1016" wrap="square"/>
          <a:p>
            <a:pPr indent="0" marL="0">
              <a:lnSpc>
                <a:spcPct val="145000"/>
              </a:lnSpc>
              <a:buNone/>
            </a:pPr>
            <a:r>
              <a:rPr dirty="0" sz="1300" lang="en-US">
                <a:solidFill>
                  <a:srgbClr val="454B63"/>
                </a:solidFill>
                <a:latin typeface="Segoe UI" pitchFamily="34" charset="0"/>
                <a:ea typeface="Segoe UI" pitchFamily="34" charset="-122"/>
                <a:cs typeface="Segoe UI" pitchFamily="34" charset="-120"/>
              </a:rPr>
              <a:t>Created 1-to-Many relationships to minimize data redundancy and enhance performance.
</a:t>
            </a:r>
            <a:endParaRPr dirty="0" sz="1300" lang="en-US"/>
          </a:p>
        </p:txBody>
      </p:sp>
      <p:sp>
        <p:nvSpPr>
          <p:cNvPr id="1048652" name="Text 8"/>
          <p:cNvSpPr/>
          <p:nvPr/>
        </p:nvSpPr>
        <p:spPr>
          <a:xfrm>
            <a:off x="5912972" y="4578237"/>
            <a:ext cx="5267828" cy="253996"/>
          </a:xfrm>
          <a:prstGeom prst="rect"/>
          <a:noFill/>
        </p:spPr>
        <p:txBody>
          <a:bodyPr anchor="t" bIns="1016" lIns="1016" rIns="1016" rtlCol="0" tIns="1016" wrap="square"/>
          <a:p>
            <a:pPr indent="0" marL="0">
              <a:lnSpc>
                <a:spcPct val="125000"/>
              </a:lnSpc>
              <a:buNone/>
            </a:pPr>
            <a:r>
              <a:rPr b="1" dirty="0" sz="1400" lang="en-US">
                <a:solidFill>
                  <a:srgbClr val="2B3150"/>
                </a:solidFill>
                <a:latin typeface="Segoe UI" pitchFamily="34" charset="0"/>
                <a:ea typeface="Segoe UI" pitchFamily="34" charset="-122"/>
                <a:cs typeface="Segoe UI" pitchFamily="34" charset="-120"/>
              </a:rPr>
              <a:t>DAX Measures for KPIs
</a:t>
            </a:r>
            <a:endParaRPr dirty="0" sz="1400" lang="en-US"/>
          </a:p>
        </p:txBody>
      </p:sp>
      <p:sp>
        <p:nvSpPr>
          <p:cNvPr id="1048653" name="Text 9"/>
          <p:cNvSpPr/>
          <p:nvPr/>
        </p:nvSpPr>
        <p:spPr>
          <a:xfrm>
            <a:off x="5912972" y="4883030"/>
            <a:ext cx="5267828" cy="515609"/>
          </a:xfrm>
          <a:prstGeom prst="rect"/>
          <a:noFill/>
        </p:spPr>
        <p:txBody>
          <a:bodyPr anchor="t" bIns="1016" lIns="1016" rIns="1016" rtlCol="0" tIns="1016" wrap="square"/>
          <a:p>
            <a:pPr indent="0" marL="0">
              <a:lnSpc>
                <a:spcPct val="145000"/>
              </a:lnSpc>
              <a:buNone/>
            </a:pPr>
            <a:r>
              <a:rPr dirty="0" sz="1300" lang="en-US">
                <a:solidFill>
                  <a:srgbClr val="454B63"/>
                </a:solidFill>
                <a:latin typeface="Segoe UI" pitchFamily="34" charset="0"/>
                <a:ea typeface="Segoe UI" pitchFamily="34" charset="-122"/>
                <a:cs typeface="Segoe UI" pitchFamily="34" charset="-120"/>
              </a:rPr>
              <a:t>Developed DAX measures for key performance indicators, ensuring accurate business insights.
</a:t>
            </a:r>
            <a:endParaRPr dirty="0" sz="1300" lang="en-US"/>
          </a:p>
        </p:txBody>
      </p:sp>
      <p:sp>
        <p:nvSpPr>
          <p:cNvPr id="1048654" name="Shape 10"/>
          <p:cNvSpPr/>
          <p:nvPr/>
        </p:nvSpPr>
        <p:spPr>
          <a:xfrm>
            <a:off x="4582045" y="2275786"/>
            <a:ext cx="507988" cy="330190"/>
          </a:xfrm>
          <a:prstGeom prst="roundRect">
            <a:avLst>
              <a:gd name="adj" fmla="val 25000"/>
            </a:avLst>
          </a:prstGeom>
          <a:solidFill>
            <a:srgbClr val="5B3FD6">
              <a:alpha val="10000"/>
            </a:srgbClr>
          </a:solidFill>
        </p:spPr>
      </p:sp>
      <p:sp>
        <p:nvSpPr>
          <p:cNvPr id="1048655" name="Text 11"/>
          <p:cNvSpPr/>
          <p:nvPr/>
        </p:nvSpPr>
        <p:spPr>
          <a:xfrm>
            <a:off x="4582045" y="2275786"/>
            <a:ext cx="507988" cy="330190"/>
          </a:xfrm>
          <a:prstGeom prst="rect"/>
          <a:noFill/>
        </p:spPr>
        <p:txBody>
          <a:bodyPr anchor="t" bIns="0" lIns="0" rIns="0" rtlCol="0" tIns="0" wrap="square"/>
          <a:p>
            <a:pPr algn="ctr" indent="0" marL="0">
              <a:lnSpc>
                <a:spcPct val="185714"/>
              </a:lnSpc>
              <a:buNone/>
            </a:pPr>
            <a:r>
              <a:rPr b="1" dirty="0" sz="1300" lang="en-US">
                <a:solidFill>
                  <a:srgbClr val="5B3FD6"/>
                </a:solidFill>
                <a:latin typeface="Calibri" pitchFamily="34" charset="0"/>
                <a:ea typeface="Calibri" pitchFamily="34" charset="-122"/>
                <a:cs typeface="Calibri" pitchFamily="34" charset="-120"/>
              </a:rPr>
              <a:t>01
</a:t>
            </a:r>
            <a:endParaRPr dirty="0" sz="1300" lang="en-US"/>
          </a:p>
        </p:txBody>
      </p:sp>
      <p:sp>
        <p:nvSpPr>
          <p:cNvPr id="1048656" name="Shape 12"/>
          <p:cNvSpPr/>
          <p:nvPr/>
        </p:nvSpPr>
        <p:spPr>
          <a:xfrm>
            <a:off x="4912237" y="3517816"/>
            <a:ext cx="507987" cy="330190"/>
          </a:xfrm>
          <a:prstGeom prst="roundRect">
            <a:avLst>
              <a:gd name="adj" fmla="val 25000"/>
            </a:avLst>
          </a:prstGeom>
          <a:solidFill>
            <a:srgbClr val="5B3FD6">
              <a:alpha val="10000"/>
            </a:srgbClr>
          </a:solidFill>
        </p:spPr>
      </p:sp>
      <p:sp>
        <p:nvSpPr>
          <p:cNvPr id="1048657" name="Text 13"/>
          <p:cNvSpPr/>
          <p:nvPr/>
        </p:nvSpPr>
        <p:spPr>
          <a:xfrm>
            <a:off x="4912237" y="3517816"/>
            <a:ext cx="507987" cy="330190"/>
          </a:xfrm>
          <a:prstGeom prst="rect"/>
          <a:noFill/>
        </p:spPr>
        <p:txBody>
          <a:bodyPr anchor="t" bIns="0" lIns="0" rIns="0" rtlCol="0" tIns="0" wrap="square"/>
          <a:p>
            <a:pPr algn="ctr" indent="0" marL="0">
              <a:lnSpc>
                <a:spcPct val="185714"/>
              </a:lnSpc>
              <a:buNone/>
            </a:pPr>
            <a:r>
              <a:rPr b="1" dirty="0" sz="1300" lang="en-US">
                <a:solidFill>
                  <a:srgbClr val="5B3FD6"/>
                </a:solidFill>
                <a:latin typeface="Calibri" pitchFamily="34" charset="0"/>
                <a:ea typeface="Calibri" pitchFamily="34" charset="-122"/>
                <a:cs typeface="Calibri" pitchFamily="34" charset="-120"/>
              </a:rPr>
              <a:t>02
</a:t>
            </a:r>
            <a:endParaRPr dirty="0" sz="1300" lang="en-US"/>
          </a:p>
        </p:txBody>
      </p:sp>
      <p:sp>
        <p:nvSpPr>
          <p:cNvPr id="1048658" name="Shape 14"/>
          <p:cNvSpPr/>
          <p:nvPr/>
        </p:nvSpPr>
        <p:spPr>
          <a:xfrm>
            <a:off x="5242429" y="4759846"/>
            <a:ext cx="507987" cy="330190"/>
          </a:xfrm>
          <a:prstGeom prst="roundRect">
            <a:avLst>
              <a:gd name="adj" fmla="val 25000"/>
            </a:avLst>
          </a:prstGeom>
          <a:solidFill>
            <a:srgbClr val="5B3FD6">
              <a:alpha val="10000"/>
            </a:srgbClr>
          </a:solidFill>
        </p:spPr>
      </p:sp>
      <p:sp>
        <p:nvSpPr>
          <p:cNvPr id="1048659" name="Text 15"/>
          <p:cNvSpPr/>
          <p:nvPr/>
        </p:nvSpPr>
        <p:spPr>
          <a:xfrm>
            <a:off x="5242429" y="4759846"/>
            <a:ext cx="507987" cy="330190"/>
          </a:xfrm>
          <a:prstGeom prst="rect"/>
          <a:noFill/>
        </p:spPr>
        <p:txBody>
          <a:bodyPr anchor="t" bIns="0" lIns="0" rIns="0" rtlCol="0" tIns="0" wrap="square"/>
          <a:p>
            <a:pPr algn="ctr" indent="0" marL="0">
              <a:lnSpc>
                <a:spcPct val="185714"/>
              </a:lnSpc>
              <a:buNone/>
            </a:pPr>
            <a:r>
              <a:rPr b="1" dirty="0" sz="1300" lang="en-US">
                <a:solidFill>
                  <a:srgbClr val="5B3FD6"/>
                </a:solidFill>
                <a:latin typeface="Calibri" pitchFamily="34" charset="0"/>
                <a:ea typeface="Calibri" pitchFamily="34" charset="-122"/>
                <a:cs typeface="Calibri" pitchFamily="34" charset="-120"/>
              </a:rPr>
              <a:t>03
</a:t>
            </a:r>
            <a:endParaRPr dirty="0" sz="1300" lang="en-US"/>
          </a:p>
        </p:txBody>
      </p:sp>
      <p:pic>
        <p:nvPicPr>
          <p:cNvPr id="2097201" name="Image 6" descr="preencoded.png"/>
          <p:cNvPicPr>
            <a:picLocks noChangeAspect="1"/>
          </p:cNvPicPr>
          <p:nvPr/>
        </p:nvPicPr>
        <p:blipFill>
          <a:blip xmlns:r="http://schemas.openxmlformats.org/officeDocument/2006/relationships" r:embed="rId7"/>
          <a:srcRect/>
          <a:stretch>
            <a:fillRect/>
          </a:stretch>
        </p:blipFill>
        <p:spPr>
          <a:xfrm>
            <a:off x="761981" y="1946862"/>
            <a:ext cx="4190895" cy="2793932"/>
          </a:xfrm>
          <a:prstGeom prst="rec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FA"/>
        </a:solidFill>
        <a:effectLst/>
      </p:bgPr>
    </p:bg>
    <p:spTree>
      <p:nvGrpSpPr>
        <p:cNvPr id="34" name=""/>
        <p:cNvGrpSpPr/>
        <p:nvPr/>
      </p:nvGrpSpPr>
      <p:grpSpPr>
        <a:xfrm>
          <a:off x="0" y="0"/>
          <a:ext cx="0" cy="0"/>
          <a:chOff x="0" y="0"/>
          <a:chExt cx="0" cy="0"/>
        </a:xfrm>
      </p:grpSpPr>
      <p:pic>
        <p:nvPicPr>
          <p:cNvPr id="2097202" name="Image 0" descr="preencoded.png"/>
          <p:cNvPicPr>
            <a:picLocks noChangeAspect="1"/>
          </p:cNvPicPr>
          <p:nvPr/>
        </p:nvPicPr>
        <p:blipFill>
          <a:blip xmlns:r="http://schemas.openxmlformats.org/officeDocument/2006/relationships" r:embed="rId1"/>
          <a:stretch>
            <a:fillRect/>
          </a:stretch>
        </p:blipFill>
        <p:spPr>
          <a:xfrm>
            <a:off x="6095848" y="-1015975"/>
            <a:ext cx="6050128" cy="6095848"/>
          </a:xfrm>
          <a:prstGeom prst="rect"/>
        </p:spPr>
      </p:pic>
      <p:pic>
        <p:nvPicPr>
          <p:cNvPr id="2097203" name="Image 1" descr="preencoded.png"/>
          <p:cNvPicPr>
            <a:picLocks noChangeAspect="1"/>
          </p:cNvPicPr>
          <p:nvPr/>
        </p:nvPicPr>
        <p:blipFill>
          <a:blip xmlns:r="http://schemas.openxmlformats.org/officeDocument/2006/relationships" r:embed="rId2"/>
          <a:stretch>
            <a:fillRect/>
          </a:stretch>
        </p:blipFill>
        <p:spPr>
          <a:xfrm>
            <a:off x="-634984" y="1015975"/>
            <a:ext cx="6603835" cy="5796305"/>
          </a:xfrm>
          <a:prstGeom prst="rect"/>
        </p:spPr>
      </p:pic>
      <p:pic>
        <p:nvPicPr>
          <p:cNvPr id="2097204" name="Image 2" descr="preencoded.png"/>
          <p:cNvPicPr>
            <a:picLocks noChangeAspect="1"/>
          </p:cNvPicPr>
          <p:nvPr/>
        </p:nvPicPr>
        <p:blipFill>
          <a:blip xmlns:r="http://schemas.openxmlformats.org/officeDocument/2006/relationships" r:embed="rId3"/>
          <a:stretch>
            <a:fillRect/>
          </a:stretch>
        </p:blipFill>
        <p:spPr>
          <a:xfrm>
            <a:off x="507987" y="4571886"/>
            <a:ext cx="3555911" cy="2240394"/>
          </a:xfrm>
          <a:prstGeom prst="rect"/>
        </p:spPr>
      </p:pic>
      <p:pic>
        <p:nvPicPr>
          <p:cNvPr id="2097205" name="Image 3" descr="preencoded.png"/>
          <p:cNvPicPr>
            <a:picLocks noChangeAspect="1"/>
          </p:cNvPicPr>
          <p:nvPr/>
        </p:nvPicPr>
        <p:blipFill>
          <a:blip xmlns:r="http://schemas.openxmlformats.org/officeDocument/2006/relationships" r:embed="rId4"/>
          <a:stretch>
            <a:fillRect/>
          </a:stretch>
        </p:blipFill>
        <p:spPr>
          <a:xfrm>
            <a:off x="5714857" y="1523962"/>
            <a:ext cx="6095848" cy="4571886"/>
          </a:xfrm>
          <a:prstGeom prst="rect"/>
        </p:spPr>
      </p:pic>
      <p:pic>
        <p:nvPicPr>
          <p:cNvPr id="2097206" name="Image 4" descr="preencoded.png"/>
          <p:cNvPicPr>
            <a:picLocks noChangeAspect="1"/>
          </p:cNvPicPr>
          <p:nvPr/>
        </p:nvPicPr>
        <p:blipFill>
          <a:blip xmlns:r="http://schemas.openxmlformats.org/officeDocument/2006/relationships" r:embed="rId5"/>
          <a:stretch>
            <a:fillRect/>
          </a:stretch>
        </p:blipFill>
        <p:spPr>
          <a:xfrm>
            <a:off x="10413740" y="507987"/>
            <a:ext cx="1732236" cy="2285943"/>
          </a:xfrm>
          <a:prstGeom prst="rect"/>
        </p:spPr>
      </p:pic>
      <p:pic>
        <p:nvPicPr>
          <p:cNvPr id="2097207" name="Image 5" descr="preencoded.png"/>
          <p:cNvPicPr>
            <a:picLocks noChangeAspect="1"/>
          </p:cNvPicPr>
          <p:nvPr/>
        </p:nvPicPr>
        <p:blipFill>
          <a:blip xmlns:r="http://schemas.openxmlformats.org/officeDocument/2006/relationships" r:embed="rId6"/>
          <a:stretch>
            <a:fillRect/>
          </a:stretch>
        </p:blipFill>
        <p:spPr>
          <a:xfrm>
            <a:off x="1015975" y="1650959"/>
            <a:ext cx="1650959" cy="50799"/>
          </a:xfrm>
          <a:prstGeom prst="rect"/>
        </p:spPr>
      </p:pic>
      <p:sp>
        <p:nvSpPr>
          <p:cNvPr id="1048663" name="Text 0"/>
          <p:cNvSpPr/>
          <p:nvPr/>
        </p:nvSpPr>
        <p:spPr>
          <a:xfrm>
            <a:off x="1015975" y="634984"/>
            <a:ext cx="10159746" cy="888978"/>
          </a:xfrm>
          <a:prstGeom prst="rect"/>
          <a:noFill/>
        </p:spPr>
        <p:txBody>
          <a:bodyPr anchor="t" bIns="1016" lIns="1016" rIns="1016" rtlCol="0" tIns="1016" wrap="square"/>
          <a:p>
            <a:pPr algn="l" indent="0" marL="0">
              <a:lnSpc>
                <a:spcPct val="120000"/>
              </a:lnSpc>
              <a:buNone/>
            </a:pPr>
            <a:r>
              <a:rPr b="1" dirty="0" sz="2900" lang="en-US">
                <a:solidFill>
                  <a:srgbClr val="1A1F36"/>
                </a:solidFill>
                <a:latin typeface="Segoe UI" pitchFamily="34" charset="0"/>
                <a:ea typeface="Segoe UI" pitchFamily="34" charset="-122"/>
                <a:cs typeface="Segoe UI" pitchFamily="34" charset="-120"/>
              </a:rPr>
              <a:t>Visual Representation of Dashboards
</a:t>
            </a:r>
            <a:endParaRPr dirty="0" sz="2900" lang="en-US"/>
          </a:p>
        </p:txBody>
      </p:sp>
      <p:sp>
        <p:nvSpPr>
          <p:cNvPr id="1048664" name="Text 1"/>
          <p:cNvSpPr/>
          <p:nvPr/>
        </p:nvSpPr>
        <p:spPr>
          <a:xfrm>
            <a:off x="6476838" y="2285943"/>
            <a:ext cx="4825879" cy="3047924"/>
          </a:xfrm>
          <a:prstGeom prst="rect"/>
          <a:noFill/>
        </p:spPr>
        <p:txBody>
          <a:bodyPr anchor="t" bIns="1016" lIns="1016" rIns="1016" rtlCol="0" tIns="1016" wrap="square"/>
          <a:p>
            <a:pPr algn="l" indent="0" marL="0">
              <a:lnSpc>
                <a:spcPct val="150000"/>
              </a:lnSpc>
              <a:buNone/>
            </a:pPr>
            <a:r>
              <a:rPr dirty="0" sz="1300" lang="en-US">
                <a:solidFill>
                  <a:srgbClr val="454B63"/>
                </a:solidFill>
                <a:latin typeface="Calibri" pitchFamily="34" charset="0"/>
                <a:ea typeface="Calibri" pitchFamily="34" charset="-122"/>
                <a:cs typeface="Calibri" pitchFamily="34" charset="-120"/>
              </a:rPr>
              <a:t>This slide showcases interactive dashboards for sales and epidemiological analytics, highlighting key metrics and visual hierarchies. The visuals enhance data comprehension and decision-making.
</a:t>
            </a:r>
            <a:endParaRPr dirty="0" sz="1300" lang="en-US"/>
          </a:p>
        </p:txBody>
      </p:sp>
      <p:pic>
        <p:nvPicPr>
          <p:cNvPr id="2097208" name="Image 6" descr="preencoded.png"/>
          <p:cNvPicPr>
            <a:picLocks noChangeAspect="1"/>
          </p:cNvPicPr>
          <p:nvPr/>
        </p:nvPicPr>
        <p:blipFill>
          <a:blip xmlns:r="http://schemas.openxmlformats.org/officeDocument/2006/relationships" r:embed="rId7"/>
          <a:srcRect/>
          <a:stretch>
            <a:fillRect/>
          </a:stretch>
        </p:blipFill>
        <p:spPr>
          <a:xfrm>
            <a:off x="1015975" y="1777956"/>
            <a:ext cx="4825879" cy="4063898"/>
          </a:xfrm>
          <a:prstGeom prst="rect"/>
        </p:spPr>
      </p:pic>
      <p:sp>
        <p:nvSpPr>
          <p:cNvPr id="1048665" name="Text 2"/>
          <p:cNvSpPr/>
          <p:nvPr/>
        </p:nvSpPr>
        <p:spPr>
          <a:xfrm>
            <a:off x="10362895" y="6537960"/>
            <a:ext cx="1691640" cy="256032"/>
          </a:xfrm>
          <a:prstGeom prst="rect"/>
          <a:solidFill>
            <a:srgbClr val="000000">
              <a:alpha val="45000"/>
            </a:srgbClr>
          </a:solidFill>
        </p:spPr>
        <p:txBody>
          <a:bodyPr anchor="ctr" rtlCol="0" wrap="square"/>
          <a:p>
            <a:pPr algn="ctr" indent="0" marL="0">
              <a:buNone/>
            </a:pPr>
            <a:r>
              <a:rPr dirty="0" sz="800" lang="en-US">
                <a:solidFill>
                  <a:srgbClr val="FFFFFF"/>
                </a:solidFill>
                <a:latin typeface="Calibri" pitchFamily="34" charset="0"/>
                <a:ea typeface="Calibri" pitchFamily="34" charset="-122"/>
                <a:cs typeface="Calibri" pitchFamily="34" charset="-120"/>
              </a:rPr>
              <a:t>Made with SlideMaker.app</a:t>
            </a:r>
            <a:endParaRPr dirty="0" sz="800"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FA"/>
        </a:solidFill>
        <a:effectLst/>
      </p:bgPr>
    </p:bg>
    <p:spTree>
      <p:nvGrpSpPr>
        <p:cNvPr id="37" name=""/>
        <p:cNvGrpSpPr/>
        <p:nvPr/>
      </p:nvGrpSpPr>
      <p:grpSpPr>
        <a:xfrm>
          <a:off x="0" y="0"/>
          <a:ext cx="0" cy="0"/>
          <a:chOff x="0" y="0"/>
          <a:chExt cx="0" cy="0"/>
        </a:xfrm>
      </p:grpSpPr>
      <p:pic>
        <p:nvPicPr>
          <p:cNvPr id="2097209" name="Image 0" descr="preencoded.png"/>
          <p:cNvPicPr>
            <a:picLocks noChangeAspect="1"/>
          </p:cNvPicPr>
          <p:nvPr/>
        </p:nvPicPr>
        <p:blipFill>
          <a:blip xmlns:r="http://schemas.openxmlformats.org/officeDocument/2006/relationships" r:embed="rId1"/>
          <a:stretch>
            <a:fillRect/>
          </a:stretch>
        </p:blipFill>
        <p:spPr>
          <a:xfrm>
            <a:off x="0" y="0"/>
            <a:ext cx="12145975" cy="6812280"/>
          </a:xfrm>
          <a:prstGeom prst="rect"/>
        </p:spPr>
      </p:pic>
      <p:sp>
        <p:nvSpPr>
          <p:cNvPr id="1048669" name="Shape 0"/>
          <p:cNvSpPr/>
          <p:nvPr/>
        </p:nvSpPr>
        <p:spPr>
          <a:xfrm>
            <a:off x="1346166" y="2551998"/>
            <a:ext cx="2963153" cy="2236414"/>
          </a:xfrm>
          <a:prstGeom prst="roundRect">
            <a:avLst>
              <a:gd name="adj" fmla="val 9086"/>
            </a:avLst>
          </a:prstGeom>
          <a:solidFill>
            <a:srgbClr val="5B3FD6">
              <a:alpha val="5000"/>
            </a:srgbClr>
          </a:solidFill>
          <a:ln w="10160">
            <a:solidFill>
              <a:srgbClr val="5B3FD6">
                <a:alpha val="15000"/>
              </a:srgbClr>
            </a:solidFill>
            <a:prstDash val="solid"/>
          </a:ln>
        </p:spPr>
      </p:sp>
      <p:sp>
        <p:nvSpPr>
          <p:cNvPr id="1048670" name="Shape 1"/>
          <p:cNvSpPr/>
          <p:nvPr/>
        </p:nvSpPr>
        <p:spPr>
          <a:xfrm>
            <a:off x="4614112" y="2551998"/>
            <a:ext cx="2963312" cy="2236414"/>
          </a:xfrm>
          <a:prstGeom prst="roundRect">
            <a:avLst>
              <a:gd name="adj" fmla="val 9086"/>
            </a:avLst>
          </a:prstGeom>
          <a:solidFill>
            <a:srgbClr val="8B5CF6">
              <a:alpha val="5000"/>
            </a:srgbClr>
          </a:solidFill>
          <a:ln w="10160">
            <a:solidFill>
              <a:srgbClr val="8B5CF6">
                <a:alpha val="15000"/>
              </a:srgbClr>
            </a:solidFill>
            <a:prstDash val="solid"/>
          </a:ln>
        </p:spPr>
      </p:sp>
      <p:sp>
        <p:nvSpPr>
          <p:cNvPr id="1048671" name="Shape 2"/>
          <p:cNvSpPr/>
          <p:nvPr/>
        </p:nvSpPr>
        <p:spPr>
          <a:xfrm>
            <a:off x="7882217" y="2551998"/>
            <a:ext cx="2963312" cy="2236414"/>
          </a:xfrm>
          <a:prstGeom prst="roundRect">
            <a:avLst>
              <a:gd name="adj" fmla="val 9086"/>
            </a:avLst>
          </a:prstGeom>
          <a:solidFill>
            <a:srgbClr val="5B3FD6">
              <a:alpha val="5000"/>
            </a:srgbClr>
          </a:solidFill>
          <a:ln w="10160">
            <a:solidFill>
              <a:srgbClr val="5B3FD6">
                <a:alpha val="15000"/>
              </a:srgbClr>
            </a:solidFill>
            <a:prstDash val="solid"/>
          </a:ln>
        </p:spPr>
      </p:sp>
      <p:pic>
        <p:nvPicPr>
          <p:cNvPr id="2097210" name="Image 1" descr="preencoded.png"/>
          <p:cNvPicPr>
            <a:picLocks noChangeAspect="1"/>
          </p:cNvPicPr>
          <p:nvPr/>
        </p:nvPicPr>
        <p:blipFill>
          <a:blip xmlns:r="http://schemas.openxmlformats.org/officeDocument/2006/relationships" r:embed="rId2"/>
          <a:stretch>
            <a:fillRect/>
          </a:stretch>
        </p:blipFill>
        <p:spPr>
          <a:xfrm>
            <a:off x="8381790" y="2539937"/>
            <a:ext cx="2539937" cy="2539937"/>
          </a:xfrm>
          <a:prstGeom prst="rect"/>
        </p:spPr>
      </p:pic>
      <p:pic>
        <p:nvPicPr>
          <p:cNvPr id="2097211" name="Image 2" descr="preencoded.png"/>
          <p:cNvPicPr>
            <a:picLocks noChangeAspect="1"/>
          </p:cNvPicPr>
          <p:nvPr/>
        </p:nvPicPr>
        <p:blipFill>
          <a:blip xmlns:r="http://schemas.openxmlformats.org/officeDocument/2006/relationships" r:embed="rId3"/>
          <a:stretch>
            <a:fillRect/>
          </a:stretch>
        </p:blipFill>
        <p:spPr>
          <a:xfrm>
            <a:off x="1269968" y="2539937"/>
            <a:ext cx="2539937" cy="2539937"/>
          </a:xfrm>
          <a:prstGeom prst="rect"/>
        </p:spPr>
      </p:pic>
      <p:sp>
        <p:nvSpPr>
          <p:cNvPr id="1048672" name="Text 3"/>
          <p:cNvSpPr/>
          <p:nvPr/>
        </p:nvSpPr>
        <p:spPr>
          <a:xfrm>
            <a:off x="1015975" y="634984"/>
            <a:ext cx="10159746" cy="888978"/>
          </a:xfrm>
          <a:prstGeom prst="rect"/>
          <a:noFill/>
        </p:spPr>
        <p:txBody>
          <a:bodyPr anchor="t" bIns="1016" lIns="1016" rIns="1016" rtlCol="0" tIns="1016" wrap="square"/>
          <a:p>
            <a:pPr algn="l" indent="0" marL="0">
              <a:lnSpc>
                <a:spcPct val="130000"/>
              </a:lnSpc>
              <a:buNone/>
            </a:pPr>
            <a:r>
              <a:rPr b="1" dirty="0" sz="2900" lang="en-US">
                <a:solidFill>
                  <a:srgbClr val="1A1F36"/>
                </a:solidFill>
                <a:latin typeface="Segoe UI" pitchFamily="34" charset="0"/>
                <a:ea typeface="Segoe UI" pitchFamily="34" charset="-122"/>
                <a:cs typeface="Segoe UI" pitchFamily="34" charset="-120"/>
              </a:rPr>
              <a:t>Key Metrics &amp; Impact
</a:t>
            </a:r>
            <a:endParaRPr dirty="0" sz="2900" lang="en-US"/>
          </a:p>
        </p:txBody>
      </p:sp>
      <p:sp>
        <p:nvSpPr>
          <p:cNvPr id="1048673" name="Text 4"/>
          <p:cNvSpPr/>
          <p:nvPr/>
        </p:nvSpPr>
        <p:spPr>
          <a:xfrm>
            <a:off x="1827167" y="2790755"/>
            <a:ext cx="2001153" cy="754361"/>
          </a:xfrm>
          <a:prstGeom prst="rect"/>
          <a:noFill/>
        </p:spPr>
        <p:txBody>
          <a:bodyPr anchor="t" bIns="1016" lIns="1016" rIns="1016" rtlCol="0" tIns="1016" wrap="square"/>
          <a:p>
            <a:pPr algn="ctr" indent="0" marL="0">
              <a:lnSpc>
                <a:spcPct val="110000"/>
              </a:lnSpc>
              <a:buNone/>
            </a:pPr>
            <a:r>
              <a:rPr b="1" dirty="0" sz="4900" lang="en-US">
                <a:solidFill>
                  <a:srgbClr val="5B3FD6"/>
                </a:solidFill>
                <a:latin typeface="Segoe UI" pitchFamily="34" charset="0"/>
                <a:ea typeface="Segoe UI" pitchFamily="34" charset="-122"/>
                <a:cs typeface="Segoe UI" pitchFamily="34" charset="-120"/>
              </a:rPr>
              <a:t>$1.2M
</a:t>
            </a:r>
            <a:endParaRPr dirty="0" sz="4900" lang="en-US"/>
          </a:p>
        </p:txBody>
      </p:sp>
      <p:sp>
        <p:nvSpPr>
          <p:cNvPr id="1048674" name="Text 5"/>
          <p:cNvSpPr/>
          <p:nvPr/>
        </p:nvSpPr>
        <p:spPr>
          <a:xfrm>
            <a:off x="2065603" y="3646719"/>
            <a:ext cx="1524279" cy="285743"/>
          </a:xfrm>
          <a:prstGeom prst="rect"/>
          <a:noFill/>
        </p:spPr>
        <p:txBody>
          <a:bodyPr anchor="t" bIns="1016" lIns="1016" rIns="1016" rtlCol="0" tIns="1016" wrap="square"/>
          <a:p>
            <a:pPr algn="ctr" indent="0" marL="0">
              <a:lnSpc>
                <a:spcPct val="125000"/>
              </a:lnSpc>
              <a:buNone/>
            </a:pPr>
            <a:r>
              <a:rPr b="1" dirty="0" sz="1600" lang="en-US">
                <a:solidFill>
                  <a:srgbClr val="2B3150"/>
                </a:solidFill>
                <a:latin typeface="Segoe UI" pitchFamily="34" charset="0"/>
                <a:ea typeface="Segoe UI" pitchFamily="34" charset="-122"/>
                <a:cs typeface="Segoe UI" pitchFamily="34" charset="-120"/>
              </a:rPr>
              <a:t>Total Revenue
</a:t>
            </a:r>
            <a:endParaRPr dirty="0" sz="1600" lang="en-US"/>
          </a:p>
        </p:txBody>
      </p:sp>
      <p:sp>
        <p:nvSpPr>
          <p:cNvPr id="1048675" name="Text 6"/>
          <p:cNvSpPr/>
          <p:nvPr/>
        </p:nvSpPr>
        <p:spPr>
          <a:xfrm>
            <a:off x="1534122" y="4034050"/>
            <a:ext cx="2587243" cy="515613"/>
          </a:xfrm>
          <a:prstGeom prst="rect"/>
          <a:noFill/>
        </p:spPr>
        <p:txBody>
          <a:bodyPr anchor="t" bIns="1016" lIns="1016" rIns="1016" rtlCol="0" tIns="1016" wrap="square"/>
          <a:p>
            <a:pPr algn="ctr" indent="0" marL="0">
              <a:lnSpc>
                <a:spcPct val="145000"/>
              </a:lnSpc>
              <a:buNone/>
            </a:pPr>
            <a:r>
              <a:rPr dirty="0" sz="1300" lang="en-US">
                <a:solidFill>
                  <a:srgbClr val="454B63"/>
                </a:solidFill>
                <a:latin typeface="Segoe UI" pitchFamily="34" charset="0"/>
                <a:ea typeface="Segoe UI" pitchFamily="34" charset="-122"/>
                <a:cs typeface="Segoe UI" pitchFamily="34" charset="-120"/>
              </a:rPr>
              <a:t>Generated from sales analytics
</a:t>
            </a:r>
            <a:endParaRPr dirty="0" sz="1300" lang="en-US"/>
          </a:p>
        </p:txBody>
      </p:sp>
      <p:sp>
        <p:nvSpPr>
          <p:cNvPr id="1048676" name="Text 7"/>
          <p:cNvSpPr/>
          <p:nvPr/>
        </p:nvSpPr>
        <p:spPr>
          <a:xfrm>
            <a:off x="4637765" y="2790755"/>
            <a:ext cx="2916006" cy="754361"/>
          </a:xfrm>
          <a:prstGeom prst="rect"/>
          <a:noFill/>
        </p:spPr>
        <p:txBody>
          <a:bodyPr anchor="t" bIns="1016" lIns="1016" rIns="1016" rtlCol="0" tIns="1016" wrap="square"/>
          <a:p>
            <a:pPr algn="ctr" indent="0" marL="0">
              <a:lnSpc>
                <a:spcPct val="110000"/>
              </a:lnSpc>
              <a:buNone/>
            </a:pPr>
            <a:r>
              <a:rPr b="1" dirty="0" sz="4900" lang="en-US">
                <a:solidFill>
                  <a:srgbClr val="8B5CF6"/>
                </a:solidFill>
                <a:latin typeface="Segoe UI" pitchFamily="34" charset="0"/>
                <a:ea typeface="Segoe UI" pitchFamily="34" charset="-122"/>
                <a:cs typeface="Segoe UI" pitchFamily="34" charset="-120"/>
              </a:rPr>
              <a:t>10,000+
</a:t>
            </a:r>
            <a:endParaRPr dirty="0" sz="4900" lang="en-US"/>
          </a:p>
        </p:txBody>
      </p:sp>
      <p:sp>
        <p:nvSpPr>
          <p:cNvPr id="1048677" name="Text 8"/>
          <p:cNvSpPr/>
          <p:nvPr/>
        </p:nvSpPr>
        <p:spPr>
          <a:xfrm>
            <a:off x="5541348" y="3646719"/>
            <a:ext cx="1108682" cy="285743"/>
          </a:xfrm>
          <a:prstGeom prst="rect"/>
          <a:noFill/>
        </p:spPr>
        <p:txBody>
          <a:bodyPr anchor="t" bIns="1016" lIns="1016" rIns="1016" rtlCol="0" tIns="1016" wrap="square"/>
          <a:p>
            <a:pPr algn="ctr" indent="0" marL="0">
              <a:lnSpc>
                <a:spcPct val="125000"/>
              </a:lnSpc>
              <a:buNone/>
            </a:pPr>
            <a:r>
              <a:rPr b="1" dirty="0" sz="1600" lang="en-US">
                <a:solidFill>
                  <a:srgbClr val="2B3150"/>
                </a:solidFill>
                <a:latin typeface="Segoe UI" pitchFamily="34" charset="0"/>
                <a:ea typeface="Segoe UI" pitchFamily="34" charset="-122"/>
                <a:cs typeface="Segoe UI" pitchFamily="34" charset="-120"/>
              </a:rPr>
              <a:t>Units Sold
</a:t>
            </a:r>
            <a:endParaRPr dirty="0" sz="1600" lang="en-US"/>
          </a:p>
        </p:txBody>
      </p:sp>
      <p:sp>
        <p:nvSpPr>
          <p:cNvPr id="1048678" name="Text 9"/>
          <p:cNvSpPr/>
          <p:nvPr/>
        </p:nvSpPr>
        <p:spPr>
          <a:xfrm>
            <a:off x="4802067" y="4034050"/>
            <a:ext cx="2587402" cy="515613"/>
          </a:xfrm>
          <a:prstGeom prst="rect"/>
          <a:noFill/>
        </p:spPr>
        <p:txBody>
          <a:bodyPr anchor="t" bIns="1016" lIns="1016" rIns="1016" rtlCol="0" tIns="1016" wrap="square"/>
          <a:p>
            <a:pPr algn="ctr" indent="0" marL="0">
              <a:lnSpc>
                <a:spcPct val="145000"/>
              </a:lnSpc>
              <a:buNone/>
            </a:pPr>
            <a:r>
              <a:rPr dirty="0" sz="1300" lang="en-US">
                <a:solidFill>
                  <a:srgbClr val="454B63"/>
                </a:solidFill>
                <a:latin typeface="Segoe UI" pitchFamily="34" charset="0"/>
                <a:ea typeface="Segoe UI" pitchFamily="34" charset="-122"/>
                <a:cs typeface="Segoe UI" pitchFamily="34" charset="-120"/>
              </a:rPr>
              <a:t>Reflecting strong market demand
</a:t>
            </a:r>
            <a:endParaRPr dirty="0" sz="1300" lang="en-US"/>
          </a:p>
        </p:txBody>
      </p:sp>
      <p:sp>
        <p:nvSpPr>
          <p:cNvPr id="1048679" name="Text 10"/>
          <p:cNvSpPr/>
          <p:nvPr/>
        </p:nvSpPr>
        <p:spPr>
          <a:xfrm>
            <a:off x="8656104" y="2790755"/>
            <a:ext cx="1415538" cy="754361"/>
          </a:xfrm>
          <a:prstGeom prst="rect"/>
          <a:noFill/>
        </p:spPr>
        <p:txBody>
          <a:bodyPr anchor="t" bIns="1016" lIns="1016" rIns="1016" rtlCol="0" tIns="1016" wrap="square"/>
          <a:p>
            <a:pPr algn="ctr" indent="0" marL="0">
              <a:lnSpc>
                <a:spcPct val="110000"/>
              </a:lnSpc>
              <a:buNone/>
            </a:pPr>
            <a:r>
              <a:rPr b="1" dirty="0" sz="4900" lang="en-US">
                <a:solidFill>
                  <a:srgbClr val="5B3FD6"/>
                </a:solidFill>
                <a:latin typeface="Segoe UI" pitchFamily="34" charset="0"/>
                <a:ea typeface="Segoe UI" pitchFamily="34" charset="-122"/>
                <a:cs typeface="Segoe UI" pitchFamily="34" charset="-120"/>
              </a:rPr>
              <a:t>15%
</a:t>
            </a:r>
            <a:endParaRPr dirty="0" sz="4900" lang="en-US"/>
          </a:p>
        </p:txBody>
      </p:sp>
      <p:sp>
        <p:nvSpPr>
          <p:cNvPr id="1048680" name="Text 11"/>
          <p:cNvSpPr/>
          <p:nvPr/>
        </p:nvSpPr>
        <p:spPr>
          <a:xfrm>
            <a:off x="8378615" y="3646719"/>
            <a:ext cx="1970355" cy="285743"/>
          </a:xfrm>
          <a:prstGeom prst="rect"/>
          <a:noFill/>
        </p:spPr>
        <p:txBody>
          <a:bodyPr anchor="t" bIns="1016" lIns="1016" rIns="1016" rtlCol="0" tIns="1016" wrap="square"/>
          <a:p>
            <a:pPr algn="ctr" indent="0" marL="0">
              <a:lnSpc>
                <a:spcPct val="125000"/>
              </a:lnSpc>
              <a:buNone/>
            </a:pPr>
            <a:r>
              <a:rPr b="1" dirty="0" sz="1600" lang="en-US">
                <a:solidFill>
                  <a:srgbClr val="2B3150"/>
                </a:solidFill>
                <a:latin typeface="Segoe UI" pitchFamily="34" charset="0"/>
                <a:ea typeface="Segoe UI" pitchFamily="34" charset="-122"/>
                <a:cs typeface="Segoe UI" pitchFamily="34" charset="-120"/>
              </a:rPr>
              <a:t>Case Fatality Rate
</a:t>
            </a:r>
            <a:endParaRPr dirty="0" sz="1600" lang="en-US"/>
          </a:p>
        </p:txBody>
      </p:sp>
      <p:sp>
        <p:nvSpPr>
          <p:cNvPr id="1048681" name="Text 12"/>
          <p:cNvSpPr/>
          <p:nvPr/>
        </p:nvSpPr>
        <p:spPr>
          <a:xfrm>
            <a:off x="8070171" y="4034050"/>
            <a:ext cx="2587402" cy="515613"/>
          </a:xfrm>
          <a:prstGeom prst="rect"/>
          <a:noFill/>
        </p:spPr>
        <p:txBody>
          <a:bodyPr anchor="t" bIns="1016" lIns="1016" rIns="1016" rtlCol="0" tIns="1016" wrap="square"/>
          <a:p>
            <a:pPr algn="ctr" indent="0" marL="0">
              <a:lnSpc>
                <a:spcPct val="145000"/>
              </a:lnSpc>
              <a:buNone/>
            </a:pPr>
            <a:r>
              <a:rPr dirty="0" sz="1300" lang="en-US">
                <a:solidFill>
                  <a:srgbClr val="454B63"/>
                </a:solidFill>
                <a:latin typeface="Segoe UI" pitchFamily="34" charset="0"/>
                <a:ea typeface="Segoe UI" pitchFamily="34" charset="-122"/>
                <a:cs typeface="Segoe UI" pitchFamily="34" charset="-120"/>
              </a:rPr>
              <a:t>Informed public health strategies
</a:t>
            </a:r>
            <a:endParaRPr dirty="0" sz="1300"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FA"/>
        </a:solidFill>
        <a:effectLst/>
      </p:bgPr>
    </p:bg>
    <p:spTree>
      <p:nvGrpSpPr>
        <p:cNvPr id="40" name=""/>
        <p:cNvGrpSpPr/>
        <p:nvPr/>
      </p:nvGrpSpPr>
      <p:grpSpPr>
        <a:xfrm>
          <a:off x="0" y="0"/>
          <a:ext cx="0" cy="0"/>
          <a:chOff x="0" y="0"/>
          <a:chExt cx="0" cy="0"/>
        </a:xfrm>
      </p:grpSpPr>
      <p:pic>
        <p:nvPicPr>
          <p:cNvPr id="2097212" name="Image 0" descr="preencoded.png"/>
          <p:cNvPicPr>
            <a:picLocks noChangeAspect="1"/>
          </p:cNvPicPr>
          <p:nvPr/>
        </p:nvPicPr>
        <p:blipFill>
          <a:blip xmlns:r="http://schemas.openxmlformats.org/officeDocument/2006/relationships" r:embed="rId1"/>
          <a:stretch>
            <a:fillRect/>
          </a:stretch>
        </p:blipFill>
        <p:spPr>
          <a:xfrm>
            <a:off x="0" y="5079873"/>
            <a:ext cx="12145975" cy="1732407"/>
          </a:xfrm>
          <a:prstGeom prst="rect"/>
        </p:spPr>
      </p:pic>
      <p:pic>
        <p:nvPicPr>
          <p:cNvPr id="2097213" name="Image 1" descr="preencoded.png"/>
          <p:cNvPicPr>
            <a:picLocks noChangeAspect="1"/>
          </p:cNvPicPr>
          <p:nvPr/>
        </p:nvPicPr>
        <p:blipFill>
          <a:blip xmlns:r="http://schemas.openxmlformats.org/officeDocument/2006/relationships" r:embed="rId2"/>
          <a:stretch>
            <a:fillRect/>
          </a:stretch>
        </p:blipFill>
        <p:spPr>
          <a:xfrm>
            <a:off x="-1269968" y="1904952"/>
            <a:ext cx="5079873" cy="4907328"/>
          </a:xfrm>
          <a:prstGeom prst="rect"/>
        </p:spPr>
      </p:pic>
      <p:pic>
        <p:nvPicPr>
          <p:cNvPr id="2097214" name="Image 2" descr="preencoded.png"/>
          <p:cNvPicPr>
            <a:picLocks noChangeAspect="1"/>
          </p:cNvPicPr>
          <p:nvPr/>
        </p:nvPicPr>
        <p:blipFill>
          <a:blip xmlns:r="http://schemas.openxmlformats.org/officeDocument/2006/relationships" r:embed="rId3"/>
          <a:stretch>
            <a:fillRect/>
          </a:stretch>
        </p:blipFill>
        <p:spPr>
          <a:xfrm>
            <a:off x="7619810" y="2539937"/>
            <a:ext cx="4526166" cy="4272344"/>
          </a:xfrm>
          <a:prstGeom prst="rect"/>
        </p:spPr>
      </p:pic>
      <p:sp>
        <p:nvSpPr>
          <p:cNvPr id="1048685" name="Shape 0"/>
          <p:cNvSpPr/>
          <p:nvPr/>
        </p:nvSpPr>
        <p:spPr>
          <a:xfrm>
            <a:off x="761981" y="1777963"/>
            <a:ext cx="10667733" cy="1378233"/>
          </a:xfrm>
          <a:prstGeom prst="roundRect">
            <a:avLst>
              <a:gd name="adj" fmla="val 16586"/>
            </a:avLst>
          </a:prstGeom>
          <a:solidFill>
            <a:srgbClr val="000000">
              <a:alpha val="0"/>
            </a:srgbClr>
          </a:solidFill>
          <a:ln w="10160">
            <a:solidFill>
              <a:srgbClr val="2B3150">
                <a:alpha val="18000"/>
              </a:srgbClr>
            </a:solidFill>
            <a:prstDash val="solid"/>
          </a:ln>
        </p:spPr>
      </p:sp>
      <p:sp>
        <p:nvSpPr>
          <p:cNvPr id="1048686" name="Shape 1"/>
          <p:cNvSpPr/>
          <p:nvPr/>
        </p:nvSpPr>
        <p:spPr>
          <a:xfrm>
            <a:off x="761981" y="3250963"/>
            <a:ext cx="10667733" cy="1378233"/>
          </a:xfrm>
          <a:prstGeom prst="roundRect">
            <a:avLst>
              <a:gd name="adj" fmla="val 16586"/>
            </a:avLst>
          </a:prstGeom>
          <a:solidFill>
            <a:srgbClr val="000000">
              <a:alpha val="0"/>
            </a:srgbClr>
          </a:solidFill>
          <a:ln w="10160">
            <a:solidFill>
              <a:srgbClr val="2B3150">
                <a:alpha val="18000"/>
              </a:srgbClr>
            </a:solidFill>
            <a:prstDash val="solid"/>
          </a:ln>
        </p:spPr>
      </p:sp>
      <p:sp>
        <p:nvSpPr>
          <p:cNvPr id="1048687" name="Shape 2"/>
          <p:cNvSpPr/>
          <p:nvPr/>
        </p:nvSpPr>
        <p:spPr>
          <a:xfrm>
            <a:off x="761981" y="4723968"/>
            <a:ext cx="10667733" cy="1378233"/>
          </a:xfrm>
          <a:prstGeom prst="roundRect">
            <a:avLst>
              <a:gd name="adj" fmla="val 16586"/>
            </a:avLst>
          </a:prstGeom>
          <a:solidFill>
            <a:srgbClr val="000000">
              <a:alpha val="0"/>
            </a:srgbClr>
          </a:solidFill>
          <a:ln w="10160">
            <a:solidFill>
              <a:srgbClr val="2B3150">
                <a:alpha val="18000"/>
              </a:srgbClr>
            </a:solidFill>
            <a:prstDash val="solid"/>
          </a:ln>
        </p:spPr>
      </p:sp>
      <p:pic>
        <p:nvPicPr>
          <p:cNvPr id="2097215" name="Image 3" descr="preencoded.png"/>
          <p:cNvPicPr>
            <a:picLocks noChangeAspect="1"/>
          </p:cNvPicPr>
          <p:nvPr/>
        </p:nvPicPr>
        <p:blipFill>
          <a:blip xmlns:r="http://schemas.openxmlformats.org/officeDocument/2006/relationships" r:embed="rId4"/>
          <a:stretch>
            <a:fillRect/>
          </a:stretch>
        </p:blipFill>
        <p:spPr>
          <a:xfrm>
            <a:off x="761981" y="4825879"/>
            <a:ext cx="2031949" cy="1986401"/>
          </a:xfrm>
          <a:prstGeom prst="rect"/>
        </p:spPr>
      </p:pic>
      <p:pic>
        <p:nvPicPr>
          <p:cNvPr id="2097216" name="Image 4" descr="preencoded.png"/>
          <p:cNvPicPr>
            <a:picLocks noChangeAspect="1"/>
          </p:cNvPicPr>
          <p:nvPr/>
        </p:nvPicPr>
        <p:blipFill>
          <a:blip xmlns:r="http://schemas.openxmlformats.org/officeDocument/2006/relationships" r:embed="rId5"/>
          <a:stretch>
            <a:fillRect/>
          </a:stretch>
        </p:blipFill>
        <p:spPr>
          <a:xfrm>
            <a:off x="10159746" y="634984"/>
            <a:ext cx="1777956" cy="1777956"/>
          </a:xfrm>
          <a:prstGeom prst="rect"/>
        </p:spPr>
      </p:pic>
      <p:pic>
        <p:nvPicPr>
          <p:cNvPr id="2097217" name="Image 5" descr="preencoded.png"/>
          <p:cNvPicPr>
            <a:picLocks noChangeAspect="1"/>
          </p:cNvPicPr>
          <p:nvPr/>
        </p:nvPicPr>
        <p:blipFill>
          <a:blip xmlns:r="http://schemas.openxmlformats.org/officeDocument/2006/relationships" r:embed="rId6"/>
          <a:stretch>
            <a:fillRect/>
          </a:stretch>
        </p:blipFill>
        <p:spPr>
          <a:xfrm>
            <a:off x="1015975" y="1650959"/>
            <a:ext cx="1523962" cy="50799"/>
          </a:xfrm>
          <a:prstGeom prst="rect"/>
        </p:spPr>
      </p:pic>
      <p:sp>
        <p:nvSpPr>
          <p:cNvPr id="1048688" name="Text 3"/>
          <p:cNvSpPr/>
          <p:nvPr/>
        </p:nvSpPr>
        <p:spPr>
          <a:xfrm>
            <a:off x="1015975" y="634984"/>
            <a:ext cx="10159746" cy="1142971"/>
          </a:xfrm>
          <a:prstGeom prst="rect"/>
          <a:noFill/>
        </p:spPr>
        <p:txBody>
          <a:bodyPr anchor="t" bIns="1016" lIns="1016" rIns="1016" rtlCol="0" tIns="1016" wrap="square"/>
          <a:p>
            <a:pPr algn="l" indent="0" marL="0">
              <a:lnSpc>
                <a:spcPct val="120000"/>
              </a:lnSpc>
              <a:buNone/>
            </a:pPr>
            <a:r>
              <a:rPr b="1" dirty="0" sz="2900" lang="en-US">
                <a:solidFill>
                  <a:srgbClr val="1A1F36"/>
                </a:solidFill>
                <a:latin typeface="Segoe UI" pitchFamily="34" charset="0"/>
                <a:ea typeface="Segoe UI" pitchFamily="34" charset="-122"/>
                <a:cs typeface="Segoe UI" pitchFamily="34" charset="-120"/>
              </a:rPr>
              <a:t>Summary of Analytical Applications
</a:t>
            </a:r>
            <a:endParaRPr dirty="0" sz="2900" lang="en-US"/>
          </a:p>
        </p:txBody>
      </p:sp>
      <p:sp>
        <p:nvSpPr>
          <p:cNvPr id="1048689" name="Text 4"/>
          <p:cNvSpPr/>
          <p:nvPr/>
        </p:nvSpPr>
        <p:spPr>
          <a:xfrm>
            <a:off x="3643062" y="2291976"/>
            <a:ext cx="7592505" cy="158111"/>
          </a:xfrm>
          <a:prstGeom prst="rect"/>
          <a:noFill/>
        </p:spPr>
        <p:txBody>
          <a:bodyPr anchor="t" bIns="1016" lIns="1016" rIns="1016" rtlCol="0" tIns="1016" wrap="square"/>
          <a:p>
            <a:pPr indent="0" marL="0">
              <a:lnSpc>
                <a:spcPct val="124529"/>
              </a:lnSpc>
              <a:buNone/>
            </a:pPr>
            <a:r>
              <a:rPr b="1" dirty="0" sz="900" lang="en-US">
                <a:solidFill>
                  <a:srgbClr val="2B3150"/>
                </a:solidFill>
                <a:latin typeface="Segoe UI" pitchFamily="34" charset="0"/>
                <a:ea typeface="Segoe UI" pitchFamily="34" charset="-122"/>
                <a:cs typeface="Segoe UI" pitchFamily="34" charset="-120"/>
              </a:rPr>
              <a:t>Versatile Modeling Principles
</a:t>
            </a:r>
            <a:endParaRPr dirty="0" sz="900" lang="en-US"/>
          </a:p>
        </p:txBody>
      </p:sp>
      <p:sp>
        <p:nvSpPr>
          <p:cNvPr id="1048690" name="Text 5"/>
          <p:cNvSpPr/>
          <p:nvPr/>
        </p:nvSpPr>
        <p:spPr>
          <a:xfrm>
            <a:off x="3643062" y="2481679"/>
            <a:ext cx="7592505" cy="160331"/>
          </a:xfrm>
          <a:prstGeom prst="rect"/>
          <a:noFill/>
        </p:spPr>
        <p:txBody>
          <a:bodyPr anchor="t" bIns="1016" lIns="1016" rIns="1016" rtlCol="0" tIns="1016" wrap="square"/>
          <a:p>
            <a:pPr indent="0" marL="0">
              <a:lnSpc>
                <a:spcPct val="140441"/>
              </a:lnSpc>
              <a:buNone/>
            </a:pPr>
            <a:r>
              <a:rPr dirty="0" sz="800" lang="en-US">
                <a:solidFill>
                  <a:srgbClr val="454B63"/>
                </a:solidFill>
                <a:latin typeface="Segoe UI" pitchFamily="34" charset="0"/>
                <a:ea typeface="Segoe UI" pitchFamily="34" charset="-122"/>
                <a:cs typeface="Segoe UI" pitchFamily="34" charset="-120"/>
              </a:rPr>
              <a:t>Applied dimensional modeling across sales and public health domains effectively.
</a:t>
            </a:r>
            <a:endParaRPr dirty="0" sz="800" lang="en-US"/>
          </a:p>
        </p:txBody>
      </p:sp>
      <p:sp>
        <p:nvSpPr>
          <p:cNvPr id="1048691" name="Text 6"/>
          <p:cNvSpPr/>
          <p:nvPr/>
        </p:nvSpPr>
        <p:spPr>
          <a:xfrm>
            <a:off x="3643062" y="3764981"/>
            <a:ext cx="7592505" cy="158111"/>
          </a:xfrm>
          <a:prstGeom prst="rect"/>
          <a:noFill/>
        </p:spPr>
        <p:txBody>
          <a:bodyPr anchor="t" bIns="1016" lIns="1016" rIns="1016" rtlCol="0" tIns="1016" wrap="square"/>
          <a:p>
            <a:pPr indent="0" marL="0">
              <a:lnSpc>
                <a:spcPct val="124529"/>
              </a:lnSpc>
              <a:buNone/>
            </a:pPr>
            <a:r>
              <a:rPr b="1" dirty="0" sz="900" lang="en-US">
                <a:solidFill>
                  <a:srgbClr val="2B3150"/>
                </a:solidFill>
                <a:latin typeface="Segoe UI" pitchFamily="34" charset="0"/>
                <a:ea typeface="Segoe UI" pitchFamily="34" charset="-122"/>
                <a:cs typeface="Segoe UI" pitchFamily="34" charset="-120"/>
              </a:rPr>
              <a:t>Data-Driven Decision Making
</a:t>
            </a:r>
            <a:endParaRPr dirty="0" sz="900" lang="en-US"/>
          </a:p>
        </p:txBody>
      </p:sp>
      <p:sp>
        <p:nvSpPr>
          <p:cNvPr id="1048692" name="Text 7"/>
          <p:cNvSpPr/>
          <p:nvPr/>
        </p:nvSpPr>
        <p:spPr>
          <a:xfrm>
            <a:off x="3643062" y="3954684"/>
            <a:ext cx="7592505" cy="160331"/>
          </a:xfrm>
          <a:prstGeom prst="rect"/>
          <a:noFill/>
        </p:spPr>
        <p:txBody>
          <a:bodyPr anchor="t" bIns="1016" lIns="1016" rIns="1016" rtlCol="0" tIns="1016" wrap="square"/>
          <a:p>
            <a:pPr indent="0" marL="0">
              <a:lnSpc>
                <a:spcPct val="140441"/>
              </a:lnSpc>
              <a:buNone/>
            </a:pPr>
            <a:r>
              <a:rPr dirty="0" sz="800" lang="en-US">
                <a:solidFill>
                  <a:srgbClr val="454B63"/>
                </a:solidFill>
                <a:latin typeface="Segoe UI" pitchFamily="34" charset="0"/>
                <a:ea typeface="Segoe UI" pitchFamily="34" charset="-122"/>
                <a:cs typeface="Segoe UI" pitchFamily="34" charset="-120"/>
              </a:rPr>
              <a:t>Enabled stakeholders to make informed decisions through interactive dashboards.
</a:t>
            </a:r>
            <a:endParaRPr dirty="0" sz="800" lang="en-US"/>
          </a:p>
        </p:txBody>
      </p:sp>
      <p:sp>
        <p:nvSpPr>
          <p:cNvPr id="1048693" name="Text 8"/>
          <p:cNvSpPr/>
          <p:nvPr/>
        </p:nvSpPr>
        <p:spPr>
          <a:xfrm>
            <a:off x="3643062" y="5237987"/>
            <a:ext cx="7592505" cy="158111"/>
          </a:xfrm>
          <a:prstGeom prst="rect"/>
          <a:noFill/>
        </p:spPr>
        <p:txBody>
          <a:bodyPr anchor="t" bIns="1016" lIns="1016" rIns="1016" rtlCol="0" tIns="1016" wrap="square"/>
          <a:p>
            <a:pPr indent="0" marL="0">
              <a:lnSpc>
                <a:spcPct val="124529"/>
              </a:lnSpc>
              <a:buNone/>
            </a:pPr>
            <a:r>
              <a:rPr b="1" dirty="0" sz="900" lang="en-US">
                <a:solidFill>
                  <a:srgbClr val="2B3150"/>
                </a:solidFill>
                <a:latin typeface="Segoe UI" pitchFamily="34" charset="0"/>
                <a:ea typeface="Segoe UI" pitchFamily="34" charset="-122"/>
                <a:cs typeface="Segoe UI" pitchFamily="34" charset="-120"/>
              </a:rPr>
              <a:t>Enhanced Decision Support
</a:t>
            </a:r>
            <a:endParaRPr dirty="0" sz="900" lang="en-US"/>
          </a:p>
        </p:txBody>
      </p:sp>
      <p:sp>
        <p:nvSpPr>
          <p:cNvPr id="1048694" name="Text 9"/>
          <p:cNvSpPr/>
          <p:nvPr/>
        </p:nvSpPr>
        <p:spPr>
          <a:xfrm>
            <a:off x="3643062" y="5427684"/>
            <a:ext cx="7592505" cy="160331"/>
          </a:xfrm>
          <a:prstGeom prst="rect"/>
          <a:noFill/>
        </p:spPr>
        <p:txBody>
          <a:bodyPr anchor="t" bIns="1016" lIns="1016" rIns="1016" rtlCol="0" tIns="1016" wrap="square"/>
          <a:p>
            <a:pPr indent="0" marL="0">
              <a:lnSpc>
                <a:spcPct val="140441"/>
              </a:lnSpc>
              <a:buNone/>
            </a:pPr>
            <a:r>
              <a:rPr dirty="0" sz="800" lang="en-US">
                <a:solidFill>
                  <a:srgbClr val="454B63"/>
                </a:solidFill>
                <a:latin typeface="Segoe UI" pitchFamily="34" charset="0"/>
                <a:ea typeface="Segoe UI" pitchFamily="34" charset="-122"/>
                <a:cs typeface="Segoe UI" pitchFamily="34" charset="-120"/>
              </a:rPr>
              <a:t>Interactive dashboards improved visibility of critical indicators for stakeholders.
</a:t>
            </a:r>
            <a:endParaRPr dirty="0" sz="800" lang="en-US"/>
          </a:p>
        </p:txBody>
      </p:sp>
      <p:sp>
        <p:nvSpPr>
          <p:cNvPr id="1048695" name="Shape 10"/>
          <p:cNvSpPr/>
          <p:nvPr/>
        </p:nvSpPr>
        <p:spPr>
          <a:xfrm>
            <a:off x="3158570" y="2300708"/>
            <a:ext cx="316222" cy="205573"/>
          </a:xfrm>
          <a:prstGeom prst="roundRect">
            <a:avLst>
              <a:gd name="adj" fmla="val 25000"/>
            </a:avLst>
          </a:prstGeom>
          <a:solidFill>
            <a:srgbClr val="5B3FD6">
              <a:alpha val="10000"/>
            </a:srgbClr>
          </a:solidFill>
        </p:spPr>
      </p:sp>
      <p:sp>
        <p:nvSpPr>
          <p:cNvPr id="1048696" name="Text 11"/>
          <p:cNvSpPr/>
          <p:nvPr/>
        </p:nvSpPr>
        <p:spPr>
          <a:xfrm>
            <a:off x="3158570" y="2300708"/>
            <a:ext cx="316222" cy="205573"/>
          </a:xfrm>
          <a:prstGeom prst="rect"/>
          <a:noFill/>
        </p:spPr>
        <p:txBody>
          <a:bodyPr anchor="t" bIns="0" lIns="0" rIns="0" rtlCol="0" tIns="0" wrap="square"/>
          <a:p>
            <a:pPr algn="ctr" indent="0" marL="0">
              <a:lnSpc>
                <a:spcPct val="288889"/>
              </a:lnSpc>
              <a:buNone/>
            </a:pPr>
            <a:r>
              <a:rPr b="1" dirty="0" sz="800" lang="en-US">
                <a:solidFill>
                  <a:srgbClr val="5B3FD6"/>
                </a:solidFill>
                <a:latin typeface="Calibri" pitchFamily="34" charset="0"/>
                <a:ea typeface="Calibri" pitchFamily="34" charset="-122"/>
                <a:cs typeface="Calibri" pitchFamily="34" charset="-120"/>
              </a:rPr>
              <a:t>01
</a:t>
            </a:r>
            <a:endParaRPr dirty="0" sz="800" lang="en-US"/>
          </a:p>
        </p:txBody>
      </p:sp>
      <p:sp>
        <p:nvSpPr>
          <p:cNvPr id="1048697" name="Shape 12"/>
          <p:cNvSpPr/>
          <p:nvPr/>
        </p:nvSpPr>
        <p:spPr>
          <a:xfrm>
            <a:off x="3158570" y="3773714"/>
            <a:ext cx="316222" cy="205573"/>
          </a:xfrm>
          <a:prstGeom prst="roundRect">
            <a:avLst>
              <a:gd name="adj" fmla="val 25000"/>
            </a:avLst>
          </a:prstGeom>
          <a:solidFill>
            <a:srgbClr val="5B3FD6">
              <a:alpha val="10000"/>
            </a:srgbClr>
          </a:solidFill>
        </p:spPr>
      </p:sp>
      <p:sp>
        <p:nvSpPr>
          <p:cNvPr id="1048698" name="Text 13"/>
          <p:cNvSpPr/>
          <p:nvPr/>
        </p:nvSpPr>
        <p:spPr>
          <a:xfrm>
            <a:off x="3158570" y="3773714"/>
            <a:ext cx="316222" cy="205573"/>
          </a:xfrm>
          <a:prstGeom prst="rect"/>
          <a:noFill/>
        </p:spPr>
        <p:txBody>
          <a:bodyPr anchor="t" bIns="0" lIns="0" rIns="0" rtlCol="0" tIns="0" wrap="square"/>
          <a:p>
            <a:pPr algn="ctr" indent="0" marL="0">
              <a:lnSpc>
                <a:spcPct val="288889"/>
              </a:lnSpc>
              <a:buNone/>
            </a:pPr>
            <a:r>
              <a:rPr b="1" dirty="0" sz="800" lang="en-US">
                <a:solidFill>
                  <a:srgbClr val="5B3FD6"/>
                </a:solidFill>
                <a:latin typeface="Calibri" pitchFamily="34" charset="0"/>
                <a:ea typeface="Calibri" pitchFamily="34" charset="-122"/>
                <a:cs typeface="Calibri" pitchFamily="34" charset="-120"/>
              </a:rPr>
              <a:t>02
</a:t>
            </a:r>
            <a:endParaRPr dirty="0" sz="800" lang="en-US"/>
          </a:p>
        </p:txBody>
      </p:sp>
      <p:sp>
        <p:nvSpPr>
          <p:cNvPr id="1048699" name="Shape 14"/>
          <p:cNvSpPr/>
          <p:nvPr/>
        </p:nvSpPr>
        <p:spPr>
          <a:xfrm>
            <a:off x="3158570" y="5246714"/>
            <a:ext cx="316222" cy="205573"/>
          </a:xfrm>
          <a:prstGeom prst="roundRect">
            <a:avLst>
              <a:gd name="adj" fmla="val 25000"/>
            </a:avLst>
          </a:prstGeom>
          <a:solidFill>
            <a:srgbClr val="5B3FD6">
              <a:alpha val="10000"/>
            </a:srgbClr>
          </a:solidFill>
        </p:spPr>
      </p:sp>
      <p:sp>
        <p:nvSpPr>
          <p:cNvPr id="1048700" name="Text 15"/>
          <p:cNvSpPr/>
          <p:nvPr/>
        </p:nvSpPr>
        <p:spPr>
          <a:xfrm>
            <a:off x="3158570" y="5246714"/>
            <a:ext cx="316222" cy="205573"/>
          </a:xfrm>
          <a:prstGeom prst="rect"/>
          <a:noFill/>
        </p:spPr>
        <p:txBody>
          <a:bodyPr anchor="t" bIns="0" lIns="0" rIns="0" rtlCol="0" tIns="0" wrap="square"/>
          <a:p>
            <a:pPr algn="ctr" indent="0" marL="0">
              <a:lnSpc>
                <a:spcPct val="288889"/>
              </a:lnSpc>
              <a:buNone/>
            </a:pPr>
            <a:r>
              <a:rPr b="1" dirty="0" sz="800" lang="en-US">
                <a:solidFill>
                  <a:srgbClr val="5B3FD6"/>
                </a:solidFill>
                <a:latin typeface="Calibri" pitchFamily="34" charset="0"/>
                <a:ea typeface="Calibri" pitchFamily="34" charset="-122"/>
                <a:cs typeface="Calibri" pitchFamily="34" charset="-120"/>
              </a:rPr>
              <a:t>03
</a:t>
            </a:r>
            <a:endParaRPr dirty="0" sz="800" lang="en-US"/>
          </a:p>
        </p:txBody>
      </p:sp>
      <p:pic>
        <p:nvPicPr>
          <p:cNvPr id="2097218" name="Image 6" descr="preencoded.png"/>
          <p:cNvPicPr>
            <a:picLocks noChangeAspect="1"/>
          </p:cNvPicPr>
          <p:nvPr/>
        </p:nvPicPr>
        <p:blipFill>
          <a:blip xmlns:r="http://schemas.openxmlformats.org/officeDocument/2006/relationships" r:embed="rId7"/>
          <a:srcRect/>
          <a:stretch>
            <a:fillRect/>
          </a:stretch>
        </p:blipFill>
        <p:spPr>
          <a:xfrm>
            <a:off x="866912" y="1882884"/>
            <a:ext cx="2133546" cy="1168374"/>
          </a:xfrm>
          <a:prstGeom prst="rect"/>
        </p:spPr>
      </p:pic>
      <p:pic>
        <p:nvPicPr>
          <p:cNvPr id="2097219" name="Image 7" descr="preencoded.png"/>
          <p:cNvPicPr>
            <a:picLocks noChangeAspect="1"/>
          </p:cNvPicPr>
          <p:nvPr/>
        </p:nvPicPr>
        <p:blipFill>
          <a:blip xmlns:r="http://schemas.openxmlformats.org/officeDocument/2006/relationships" r:embed="rId8"/>
          <a:srcRect/>
          <a:stretch>
            <a:fillRect/>
          </a:stretch>
        </p:blipFill>
        <p:spPr>
          <a:xfrm>
            <a:off x="866912" y="3355889"/>
            <a:ext cx="2133546" cy="1168374"/>
          </a:xfrm>
          <a:prstGeom prst="rect"/>
        </p:spPr>
      </p:pic>
      <p:pic>
        <p:nvPicPr>
          <p:cNvPr id="2097220" name="Image 8" descr="preencoded.png"/>
          <p:cNvPicPr>
            <a:picLocks noChangeAspect="1"/>
          </p:cNvPicPr>
          <p:nvPr/>
        </p:nvPicPr>
        <p:blipFill>
          <a:blip xmlns:r="http://schemas.openxmlformats.org/officeDocument/2006/relationships" r:embed="rId9"/>
          <a:srcRect/>
          <a:stretch>
            <a:fillRect/>
          </a:stretch>
        </p:blipFill>
        <p:spPr>
          <a:xfrm>
            <a:off x="866912" y="4828895"/>
            <a:ext cx="2133546" cy="1168374"/>
          </a:xfrm>
          <a:prstGeom prst="rec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FA"/>
        </a:solidFill>
        <a:effectLst/>
      </p:bgPr>
    </p:bg>
    <p:spTree>
      <p:nvGrpSpPr>
        <p:cNvPr id="43" name=""/>
        <p:cNvGrpSpPr/>
        <p:nvPr/>
      </p:nvGrpSpPr>
      <p:grpSpPr>
        <a:xfrm>
          <a:off x="0" y="0"/>
          <a:ext cx="0" cy="0"/>
          <a:chOff x="0" y="0"/>
          <a:chExt cx="0" cy="0"/>
        </a:xfrm>
      </p:grpSpPr>
      <p:pic>
        <p:nvPicPr>
          <p:cNvPr id="2097221" name="Image 0" descr="preencoded.png"/>
          <p:cNvPicPr>
            <a:picLocks noChangeAspect="1"/>
          </p:cNvPicPr>
          <p:nvPr/>
        </p:nvPicPr>
        <p:blipFill>
          <a:blip xmlns:r="http://schemas.openxmlformats.org/officeDocument/2006/relationships" r:embed="rId1"/>
          <a:stretch>
            <a:fillRect/>
          </a:stretch>
        </p:blipFill>
        <p:spPr>
          <a:xfrm>
            <a:off x="7619810" y="-634984"/>
            <a:ext cx="4526166" cy="5079873"/>
          </a:xfrm>
          <a:prstGeom prst="rect"/>
        </p:spPr>
      </p:pic>
      <p:sp>
        <p:nvSpPr>
          <p:cNvPr id="1048704" name="Shape 0"/>
          <p:cNvSpPr/>
          <p:nvPr/>
        </p:nvSpPr>
        <p:spPr>
          <a:xfrm>
            <a:off x="761981" y="1523962"/>
            <a:ext cx="10667733" cy="810243"/>
          </a:xfrm>
          <a:prstGeom prst="roundRect">
            <a:avLst>
              <a:gd name="adj" fmla="val 21943"/>
            </a:avLst>
          </a:prstGeom>
          <a:solidFill>
            <a:srgbClr val="000000">
              <a:alpha val="0"/>
            </a:srgbClr>
          </a:solidFill>
          <a:ln w="10160">
            <a:solidFill>
              <a:srgbClr val="2B3150">
                <a:alpha val="18000"/>
              </a:srgbClr>
            </a:solidFill>
            <a:prstDash val="solid"/>
          </a:ln>
        </p:spPr>
      </p:sp>
      <p:sp>
        <p:nvSpPr>
          <p:cNvPr id="1048705" name="Shape 1"/>
          <p:cNvSpPr/>
          <p:nvPr/>
        </p:nvSpPr>
        <p:spPr>
          <a:xfrm>
            <a:off x="761981" y="2483263"/>
            <a:ext cx="10667733" cy="1026293"/>
          </a:xfrm>
          <a:prstGeom prst="roundRect">
            <a:avLst>
              <a:gd name="adj" fmla="val 17324"/>
            </a:avLst>
          </a:prstGeom>
          <a:solidFill>
            <a:srgbClr val="000000">
              <a:alpha val="0"/>
            </a:srgbClr>
          </a:solidFill>
          <a:ln w="10160">
            <a:solidFill>
              <a:srgbClr val="2B3150">
                <a:alpha val="18000"/>
              </a:srgbClr>
            </a:solidFill>
            <a:prstDash val="solid"/>
          </a:ln>
        </p:spPr>
      </p:sp>
      <p:sp>
        <p:nvSpPr>
          <p:cNvPr id="1048706" name="Shape 2"/>
          <p:cNvSpPr/>
          <p:nvPr/>
        </p:nvSpPr>
        <p:spPr>
          <a:xfrm>
            <a:off x="761981" y="3658625"/>
            <a:ext cx="10667733" cy="1026293"/>
          </a:xfrm>
          <a:prstGeom prst="roundRect">
            <a:avLst>
              <a:gd name="adj" fmla="val 17324"/>
            </a:avLst>
          </a:prstGeom>
          <a:solidFill>
            <a:srgbClr val="000000">
              <a:alpha val="0"/>
            </a:srgbClr>
          </a:solidFill>
          <a:ln w="10160">
            <a:solidFill>
              <a:srgbClr val="2B3150">
                <a:alpha val="18000"/>
              </a:srgbClr>
            </a:solidFill>
            <a:prstDash val="solid"/>
          </a:ln>
        </p:spPr>
      </p:sp>
      <p:sp>
        <p:nvSpPr>
          <p:cNvPr id="1048707" name="Shape 3"/>
          <p:cNvSpPr/>
          <p:nvPr/>
        </p:nvSpPr>
        <p:spPr>
          <a:xfrm>
            <a:off x="761981" y="4833976"/>
            <a:ext cx="10667733" cy="810234"/>
          </a:xfrm>
          <a:prstGeom prst="roundRect">
            <a:avLst>
              <a:gd name="adj" fmla="val 21944"/>
            </a:avLst>
          </a:prstGeom>
          <a:solidFill>
            <a:srgbClr val="000000">
              <a:alpha val="0"/>
            </a:srgbClr>
          </a:solidFill>
          <a:ln w="10160">
            <a:solidFill>
              <a:srgbClr val="2B3150">
                <a:alpha val="18000"/>
              </a:srgbClr>
            </a:solidFill>
            <a:prstDash val="solid"/>
          </a:ln>
        </p:spPr>
      </p:sp>
      <p:pic>
        <p:nvPicPr>
          <p:cNvPr id="2097222" name="Image 1" descr="preencoded.png"/>
          <p:cNvPicPr>
            <a:picLocks noChangeAspect="1"/>
          </p:cNvPicPr>
          <p:nvPr/>
        </p:nvPicPr>
        <p:blipFill>
          <a:blip xmlns:r="http://schemas.openxmlformats.org/officeDocument/2006/relationships" r:embed="rId2"/>
          <a:stretch>
            <a:fillRect/>
          </a:stretch>
        </p:blipFill>
        <p:spPr>
          <a:xfrm>
            <a:off x="0" y="4444889"/>
            <a:ext cx="5079873" cy="2367391"/>
          </a:xfrm>
          <a:prstGeom prst="rect"/>
        </p:spPr>
      </p:pic>
      <p:sp>
        <p:nvSpPr>
          <p:cNvPr id="1048708" name="Text 4"/>
          <p:cNvSpPr/>
          <p:nvPr/>
        </p:nvSpPr>
        <p:spPr>
          <a:xfrm>
            <a:off x="1015975" y="634984"/>
            <a:ext cx="10159746" cy="888978"/>
          </a:xfrm>
          <a:prstGeom prst="rect"/>
          <a:noFill/>
        </p:spPr>
        <p:txBody>
          <a:bodyPr anchor="t" bIns="1016" lIns="1016" rIns="1016" rtlCol="0" tIns="1016" wrap="square"/>
          <a:p>
            <a:pPr algn="l" indent="0" marL="0">
              <a:lnSpc>
                <a:spcPct val="130000"/>
              </a:lnSpc>
              <a:buNone/>
            </a:pPr>
            <a:r>
              <a:rPr b="1" dirty="0" sz="2900" lang="en-US">
                <a:solidFill>
                  <a:srgbClr val="1A1F36"/>
                </a:solidFill>
                <a:latin typeface="Segoe UI" pitchFamily="34" charset="0"/>
                <a:ea typeface="Segoe UI" pitchFamily="34" charset="-122"/>
                <a:cs typeface="Segoe UI" pitchFamily="34" charset="-120"/>
              </a:rPr>
              <a:t>Frequently Asked Questions
</a:t>
            </a:r>
            <a:endParaRPr dirty="0" sz="2900" lang="en-US"/>
          </a:p>
        </p:txBody>
      </p:sp>
      <p:sp>
        <p:nvSpPr>
          <p:cNvPr id="1048709" name="Text 5"/>
          <p:cNvSpPr/>
          <p:nvPr/>
        </p:nvSpPr>
        <p:spPr>
          <a:xfrm>
            <a:off x="1378550" y="1693345"/>
            <a:ext cx="9860510" cy="212878"/>
          </a:xfrm>
          <a:prstGeom prst="rect"/>
          <a:noFill/>
        </p:spPr>
        <p:txBody>
          <a:bodyPr anchor="t" bIns="1016" lIns="1016" rIns="1016" rtlCol="0" tIns="1016" wrap="square"/>
          <a:p>
            <a:pPr indent="0" marL="0">
              <a:lnSpc>
                <a:spcPct val="129014"/>
              </a:lnSpc>
              <a:buNone/>
            </a:pPr>
            <a:r>
              <a:rPr b="1" dirty="0" sz="1200" lang="en-US">
                <a:solidFill>
                  <a:srgbClr val="2B3150"/>
                </a:solidFill>
                <a:latin typeface="Segoe UI" pitchFamily="34" charset="0"/>
                <a:ea typeface="Segoe UI" pitchFamily="34" charset="-122"/>
                <a:cs typeface="Segoe UI" pitchFamily="34" charset="-120"/>
              </a:rPr>
              <a:t>What tools were primarily used in this project?
</a:t>
            </a:r>
            <a:endParaRPr dirty="0" sz="1200" lang="en-US"/>
          </a:p>
        </p:txBody>
      </p:sp>
      <p:sp>
        <p:nvSpPr>
          <p:cNvPr id="1048710" name="Text 6"/>
          <p:cNvSpPr/>
          <p:nvPr/>
        </p:nvSpPr>
        <p:spPr>
          <a:xfrm>
            <a:off x="1378550" y="1948771"/>
            <a:ext cx="9860510" cy="216051"/>
          </a:xfrm>
          <a:prstGeom prst="rect"/>
          <a:noFill/>
        </p:spPr>
        <p:txBody>
          <a:bodyPr anchor="t" bIns="1016" lIns="1016" rIns="1016" rtlCol="0" tIns="1016" wrap="square"/>
          <a:p>
            <a:pPr indent="0" marL="0">
              <a:lnSpc>
                <a:spcPct val="141861"/>
              </a:lnSpc>
              <a:buNone/>
            </a:pPr>
            <a:r>
              <a:rPr dirty="0" sz="1100" lang="en-US">
                <a:solidFill>
                  <a:srgbClr val="454B63"/>
                </a:solidFill>
                <a:latin typeface="Segoe UI" pitchFamily="34" charset="0"/>
                <a:ea typeface="Segoe UI" pitchFamily="34" charset="-122"/>
                <a:cs typeface="Segoe UI" pitchFamily="34" charset="-120"/>
              </a:rPr>
              <a:t>The primary tools used were Microsoft Power BI for data visualization and Excel for preliminary data exploration and validation.
</a:t>
            </a:r>
            <a:endParaRPr dirty="0" sz="1100" lang="en-US"/>
          </a:p>
        </p:txBody>
      </p:sp>
      <p:sp>
        <p:nvSpPr>
          <p:cNvPr id="1048711" name="Text 7"/>
          <p:cNvSpPr/>
          <p:nvPr/>
        </p:nvSpPr>
        <p:spPr>
          <a:xfrm>
            <a:off x="1378550" y="2652646"/>
            <a:ext cx="9860510" cy="212878"/>
          </a:xfrm>
          <a:prstGeom prst="rect"/>
          <a:noFill/>
        </p:spPr>
        <p:txBody>
          <a:bodyPr anchor="t" bIns="1016" lIns="1016" rIns="1016" rtlCol="0" tIns="1016" wrap="square"/>
          <a:p>
            <a:pPr indent="0" marL="0">
              <a:lnSpc>
                <a:spcPct val="129014"/>
              </a:lnSpc>
              <a:buNone/>
            </a:pPr>
            <a:r>
              <a:rPr b="1" dirty="0" sz="1200" lang="en-US">
                <a:solidFill>
                  <a:srgbClr val="2B3150"/>
                </a:solidFill>
                <a:latin typeface="Segoe UI" pitchFamily="34" charset="0"/>
                <a:ea typeface="Segoe UI" pitchFamily="34" charset="-122"/>
                <a:cs typeface="Segoe UI" pitchFamily="34" charset="-120"/>
              </a:rPr>
              <a:t>How was data validation ensured during the project?
</a:t>
            </a:r>
            <a:endParaRPr dirty="0" sz="1200" lang="en-US"/>
          </a:p>
        </p:txBody>
      </p:sp>
      <p:sp>
        <p:nvSpPr>
          <p:cNvPr id="1048712" name="Text 8"/>
          <p:cNvSpPr/>
          <p:nvPr/>
        </p:nvSpPr>
        <p:spPr>
          <a:xfrm>
            <a:off x="1378550" y="2908071"/>
            <a:ext cx="9860510" cy="432101"/>
          </a:xfrm>
          <a:prstGeom prst="rect"/>
          <a:noFill/>
        </p:spPr>
        <p:txBody>
          <a:bodyPr anchor="t" bIns="1016" lIns="1016" rIns="1016" rtlCol="0" tIns="1016" wrap="square"/>
          <a:p>
            <a:pPr indent="0" marL="0">
              <a:lnSpc>
                <a:spcPct val="141861"/>
              </a:lnSpc>
              <a:buNone/>
            </a:pPr>
            <a:r>
              <a:rPr dirty="0" sz="1100" lang="en-US">
                <a:solidFill>
                  <a:srgbClr val="454B63"/>
                </a:solidFill>
                <a:latin typeface="Segoe UI" pitchFamily="34" charset="0"/>
                <a:ea typeface="Segoe UI" pitchFamily="34" charset="-122"/>
                <a:cs typeface="Segoe UI" pitchFamily="34" charset="-120"/>
              </a:rPr>
              <a:t>Data validation was ensured through automated profiling methods in Power Query, which inspected column quality and value distributions before ingestion.
</a:t>
            </a:r>
            <a:endParaRPr dirty="0" sz="1100" lang="en-US"/>
          </a:p>
        </p:txBody>
      </p:sp>
      <p:sp>
        <p:nvSpPr>
          <p:cNvPr id="1048713" name="Text 9"/>
          <p:cNvSpPr/>
          <p:nvPr/>
        </p:nvSpPr>
        <p:spPr>
          <a:xfrm>
            <a:off x="1378550" y="3827998"/>
            <a:ext cx="9860510" cy="212878"/>
          </a:xfrm>
          <a:prstGeom prst="rect"/>
          <a:noFill/>
        </p:spPr>
        <p:txBody>
          <a:bodyPr anchor="t" bIns="1016" lIns="1016" rIns="1016" rtlCol="0" tIns="1016" wrap="square"/>
          <a:p>
            <a:pPr indent="0" marL="0">
              <a:lnSpc>
                <a:spcPct val="129014"/>
              </a:lnSpc>
              <a:buNone/>
            </a:pPr>
            <a:r>
              <a:rPr b="1" dirty="0" sz="1200" lang="en-US">
                <a:solidFill>
                  <a:srgbClr val="2B3150"/>
                </a:solidFill>
                <a:latin typeface="Segoe UI" pitchFamily="34" charset="0"/>
                <a:ea typeface="Segoe UI" pitchFamily="34" charset="-122"/>
                <a:cs typeface="Segoe UI" pitchFamily="34" charset="-120"/>
              </a:rPr>
              <a:t>What was the biggest challenge faced during the project?
</a:t>
            </a:r>
            <a:endParaRPr dirty="0" sz="1200" lang="en-US"/>
          </a:p>
        </p:txBody>
      </p:sp>
      <p:sp>
        <p:nvSpPr>
          <p:cNvPr id="1048714" name="Text 10"/>
          <p:cNvSpPr/>
          <p:nvPr/>
        </p:nvSpPr>
        <p:spPr>
          <a:xfrm>
            <a:off x="1378550" y="4083423"/>
            <a:ext cx="9860510" cy="432101"/>
          </a:xfrm>
          <a:prstGeom prst="rect"/>
          <a:noFill/>
        </p:spPr>
        <p:txBody>
          <a:bodyPr anchor="t" bIns="1016" lIns="1016" rIns="1016" rtlCol="0" tIns="1016" wrap="square"/>
          <a:p>
            <a:pPr indent="0" marL="0">
              <a:lnSpc>
                <a:spcPct val="141861"/>
              </a:lnSpc>
              <a:buNone/>
            </a:pPr>
            <a:r>
              <a:rPr dirty="0" sz="1100" lang="en-US">
                <a:solidFill>
                  <a:srgbClr val="454B63"/>
                </a:solidFill>
                <a:latin typeface="Segoe UI" pitchFamily="34" charset="0"/>
                <a:ea typeface="Segoe UI" pitchFamily="34" charset="-122"/>
                <a:cs typeface="Segoe UI" pitchFamily="34" charset="-120"/>
              </a:rPr>
              <a:t>The biggest challenge was cleaning raw, messy datasets, which involved handling missing entries, inconsistent formats, and unstructured layouts.
</a:t>
            </a:r>
            <a:endParaRPr dirty="0" sz="1100" lang="en-US"/>
          </a:p>
        </p:txBody>
      </p:sp>
      <p:sp>
        <p:nvSpPr>
          <p:cNvPr id="1048715" name="Text 11"/>
          <p:cNvSpPr/>
          <p:nvPr/>
        </p:nvSpPr>
        <p:spPr>
          <a:xfrm>
            <a:off x="1378550" y="5003360"/>
            <a:ext cx="9860510" cy="212878"/>
          </a:xfrm>
          <a:prstGeom prst="rect"/>
          <a:noFill/>
        </p:spPr>
        <p:txBody>
          <a:bodyPr anchor="t" bIns="1016" lIns="1016" rIns="1016" rtlCol="0" tIns="1016" wrap="square"/>
          <a:p>
            <a:pPr indent="0" marL="0">
              <a:lnSpc>
                <a:spcPct val="129014"/>
              </a:lnSpc>
              <a:buNone/>
            </a:pPr>
            <a:r>
              <a:rPr b="1" dirty="0" sz="1200" lang="en-US">
                <a:solidFill>
                  <a:srgbClr val="2B3150"/>
                </a:solidFill>
                <a:latin typeface="Segoe UI" pitchFamily="34" charset="0"/>
                <a:ea typeface="Segoe UI" pitchFamily="34" charset="-122"/>
                <a:cs typeface="Segoe UI" pitchFamily="34" charset="-120"/>
              </a:rPr>
              <a:t>How is data security handled in your project?
</a:t>
            </a:r>
            <a:endParaRPr dirty="0" sz="1200" lang="en-US"/>
          </a:p>
        </p:txBody>
      </p:sp>
      <p:sp>
        <p:nvSpPr>
          <p:cNvPr id="1048716" name="Text 12"/>
          <p:cNvSpPr/>
          <p:nvPr/>
        </p:nvSpPr>
        <p:spPr>
          <a:xfrm>
            <a:off x="1378550" y="5258785"/>
            <a:ext cx="9860510" cy="216051"/>
          </a:xfrm>
          <a:prstGeom prst="rect"/>
          <a:noFill/>
        </p:spPr>
        <p:txBody>
          <a:bodyPr anchor="t" bIns="1016" lIns="1016" rIns="1016" rtlCol="0" tIns="1016" wrap="square"/>
          <a:p>
            <a:pPr indent="0" marL="0">
              <a:lnSpc>
                <a:spcPct val="141861"/>
              </a:lnSpc>
              <a:buNone/>
            </a:pPr>
            <a:r>
              <a:rPr dirty="0" sz="1100" lang="en-US">
                <a:solidFill>
                  <a:srgbClr val="454B63"/>
                </a:solidFill>
                <a:latin typeface="Segoe UI" pitchFamily="34" charset="0"/>
                <a:ea typeface="Segoe UI" pitchFamily="34" charset="-122"/>
                <a:cs typeface="Segoe UI" pitchFamily="34" charset="-120"/>
              </a:rPr>
              <a:t>Data security is handled by adhering to ISO 9001:2015 standards, ensuring compliance with best practices for data protection and integrity.
</a:t>
            </a:r>
            <a:endParaRPr dirty="0" sz="1100" lang="en-US"/>
          </a:p>
        </p:txBody>
      </p:sp>
      <p:sp>
        <p:nvSpPr>
          <p:cNvPr id="1048717" name="Shape 13"/>
          <p:cNvSpPr/>
          <p:nvPr/>
        </p:nvSpPr>
        <p:spPr>
          <a:xfrm>
            <a:off x="942475" y="1708579"/>
            <a:ext cx="276853" cy="276856"/>
          </a:xfrm>
          <a:prstGeom prst="ellipse"/>
          <a:solidFill>
            <a:srgbClr val="5B3FD6"/>
          </a:solidFill>
        </p:spPr>
      </p:sp>
      <p:sp>
        <p:nvSpPr>
          <p:cNvPr id="1048718" name="Text 14"/>
          <p:cNvSpPr/>
          <p:nvPr/>
        </p:nvSpPr>
        <p:spPr>
          <a:xfrm>
            <a:off x="942475" y="1708579"/>
            <a:ext cx="276853" cy="276856"/>
          </a:xfrm>
          <a:prstGeom prst="rect"/>
          <a:solidFill>
            <a:srgbClr val="5B3FD6"/>
          </a:solidFill>
        </p:spPr>
        <p:txBody>
          <a:bodyPr anchor="t" bIns="0" lIns="0" rIns="0" rtlCol="0" tIns="0" wrap="square"/>
          <a:p>
            <a:pPr algn="ctr" indent="0" marL="0">
              <a:lnSpc>
                <a:spcPct val="200000"/>
              </a:lnSpc>
              <a:buNone/>
            </a:pPr>
            <a:r>
              <a:rPr b="1" dirty="0" sz="1200" lang="en-US">
                <a:solidFill>
                  <a:srgbClr val="FFFFFF"/>
                </a:solidFill>
                <a:latin typeface="Calibri" pitchFamily="34" charset="0"/>
                <a:ea typeface="Calibri" pitchFamily="34" charset="-122"/>
                <a:cs typeface="Calibri" pitchFamily="34" charset="-120"/>
              </a:rPr>
              <a:t>?
</a:t>
            </a:r>
            <a:endParaRPr dirty="0" sz="1200" lang="en-US"/>
          </a:p>
        </p:txBody>
      </p:sp>
      <p:sp>
        <p:nvSpPr>
          <p:cNvPr id="1048719" name="Shape 15"/>
          <p:cNvSpPr/>
          <p:nvPr/>
        </p:nvSpPr>
        <p:spPr>
          <a:xfrm>
            <a:off x="942475" y="2667890"/>
            <a:ext cx="276853" cy="276856"/>
          </a:xfrm>
          <a:prstGeom prst="ellipse"/>
          <a:solidFill>
            <a:srgbClr val="5B3FD6"/>
          </a:solidFill>
        </p:spPr>
      </p:sp>
      <p:sp>
        <p:nvSpPr>
          <p:cNvPr id="1048720" name="Text 16"/>
          <p:cNvSpPr/>
          <p:nvPr/>
        </p:nvSpPr>
        <p:spPr>
          <a:xfrm>
            <a:off x="942475" y="2667890"/>
            <a:ext cx="276853" cy="276856"/>
          </a:xfrm>
          <a:prstGeom prst="rect"/>
          <a:solidFill>
            <a:srgbClr val="5B3FD6"/>
          </a:solidFill>
        </p:spPr>
        <p:txBody>
          <a:bodyPr anchor="t" bIns="0" lIns="0" rIns="0" rtlCol="0" tIns="0" wrap="square"/>
          <a:p>
            <a:pPr algn="ctr" indent="0" marL="0">
              <a:lnSpc>
                <a:spcPct val="200000"/>
              </a:lnSpc>
              <a:buNone/>
            </a:pPr>
            <a:r>
              <a:rPr b="1" dirty="0" sz="1200" lang="en-US">
                <a:solidFill>
                  <a:srgbClr val="FFFFFF"/>
                </a:solidFill>
                <a:latin typeface="Calibri" pitchFamily="34" charset="0"/>
                <a:ea typeface="Calibri" pitchFamily="34" charset="-122"/>
                <a:cs typeface="Calibri" pitchFamily="34" charset="-120"/>
              </a:rPr>
              <a:t>?
</a:t>
            </a:r>
            <a:endParaRPr dirty="0" sz="1200" lang="en-US"/>
          </a:p>
        </p:txBody>
      </p:sp>
      <p:sp>
        <p:nvSpPr>
          <p:cNvPr id="1048721" name="Shape 17"/>
          <p:cNvSpPr/>
          <p:nvPr/>
        </p:nvSpPr>
        <p:spPr>
          <a:xfrm>
            <a:off x="942475" y="3843241"/>
            <a:ext cx="276853" cy="276856"/>
          </a:xfrm>
          <a:prstGeom prst="ellipse"/>
          <a:solidFill>
            <a:srgbClr val="5B3FD6"/>
          </a:solidFill>
        </p:spPr>
      </p:sp>
      <p:sp>
        <p:nvSpPr>
          <p:cNvPr id="1048722" name="Text 18"/>
          <p:cNvSpPr/>
          <p:nvPr/>
        </p:nvSpPr>
        <p:spPr>
          <a:xfrm>
            <a:off x="942475" y="3843241"/>
            <a:ext cx="276853" cy="276856"/>
          </a:xfrm>
          <a:prstGeom prst="rect"/>
          <a:solidFill>
            <a:srgbClr val="5B3FD6"/>
          </a:solidFill>
        </p:spPr>
        <p:txBody>
          <a:bodyPr anchor="t" bIns="0" lIns="0" rIns="0" rtlCol="0" tIns="0" wrap="square"/>
          <a:p>
            <a:pPr algn="ctr" indent="0" marL="0">
              <a:lnSpc>
                <a:spcPct val="200000"/>
              </a:lnSpc>
              <a:buNone/>
            </a:pPr>
            <a:r>
              <a:rPr b="1" dirty="0" sz="1200" lang="en-US">
                <a:solidFill>
                  <a:srgbClr val="FFFFFF"/>
                </a:solidFill>
                <a:latin typeface="Calibri" pitchFamily="34" charset="0"/>
                <a:ea typeface="Calibri" pitchFamily="34" charset="-122"/>
                <a:cs typeface="Calibri" pitchFamily="34" charset="-120"/>
              </a:rPr>
              <a:t>?
</a:t>
            </a:r>
            <a:endParaRPr dirty="0" sz="1200" lang="en-US"/>
          </a:p>
        </p:txBody>
      </p:sp>
      <p:sp>
        <p:nvSpPr>
          <p:cNvPr id="1048723" name="Shape 19"/>
          <p:cNvSpPr/>
          <p:nvPr/>
        </p:nvSpPr>
        <p:spPr>
          <a:xfrm>
            <a:off x="942475" y="5018593"/>
            <a:ext cx="276853" cy="276856"/>
          </a:xfrm>
          <a:prstGeom prst="ellipse"/>
          <a:solidFill>
            <a:srgbClr val="5B3FD6"/>
          </a:solidFill>
        </p:spPr>
      </p:sp>
      <p:sp>
        <p:nvSpPr>
          <p:cNvPr id="1048724" name="Text 20"/>
          <p:cNvSpPr/>
          <p:nvPr/>
        </p:nvSpPr>
        <p:spPr>
          <a:xfrm>
            <a:off x="942475" y="5018593"/>
            <a:ext cx="276853" cy="276856"/>
          </a:xfrm>
          <a:prstGeom prst="rect"/>
          <a:solidFill>
            <a:srgbClr val="5B3FD6"/>
          </a:solidFill>
        </p:spPr>
        <p:txBody>
          <a:bodyPr anchor="t" bIns="0" lIns="0" rIns="0" rtlCol="0" tIns="0" wrap="square"/>
          <a:p>
            <a:pPr algn="ctr" indent="0" marL="0">
              <a:lnSpc>
                <a:spcPct val="200000"/>
              </a:lnSpc>
              <a:buNone/>
            </a:pPr>
            <a:r>
              <a:rPr b="1" dirty="0" sz="1200" lang="en-US">
                <a:solidFill>
                  <a:srgbClr val="FFFFFF"/>
                </a:solidFill>
                <a:latin typeface="Calibri" pitchFamily="34" charset="0"/>
                <a:ea typeface="Calibri" pitchFamily="34" charset="-122"/>
                <a:cs typeface="Calibri" pitchFamily="34" charset="-120"/>
              </a:rPr>
              <a:t>?
</a:t>
            </a:r>
            <a:endParaRPr dirty="0" sz="1200"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FA"/>
        </a:solidFill>
        <a:effectLst/>
      </p:bgPr>
    </p:bg>
    <p:spTree>
      <p:nvGrpSpPr>
        <p:cNvPr id="46" name=""/>
        <p:cNvGrpSpPr/>
        <p:nvPr/>
      </p:nvGrpSpPr>
      <p:grpSpPr>
        <a:xfrm>
          <a:off x="0" y="0"/>
          <a:ext cx="0" cy="0"/>
          <a:chOff x="0" y="0"/>
          <a:chExt cx="0" cy="0"/>
        </a:xfrm>
      </p:grpSpPr>
      <p:pic>
        <p:nvPicPr>
          <p:cNvPr id="2097223" name="Image 0" descr="preencoded.png"/>
          <p:cNvPicPr>
            <a:picLocks noChangeAspect="1"/>
          </p:cNvPicPr>
          <p:nvPr/>
        </p:nvPicPr>
        <p:blipFill>
          <a:blip xmlns:r="http://schemas.openxmlformats.org/officeDocument/2006/relationships" r:embed="rId1"/>
          <a:stretch>
            <a:fillRect/>
          </a:stretch>
        </p:blipFill>
        <p:spPr>
          <a:xfrm>
            <a:off x="8000800" y="634984"/>
            <a:ext cx="4145175" cy="5714857"/>
          </a:xfrm>
          <a:prstGeom prst="rect"/>
        </p:spPr>
      </p:pic>
      <p:pic>
        <p:nvPicPr>
          <p:cNvPr id="2097224" name="Image 1" descr="preencoded.png"/>
          <p:cNvPicPr>
            <a:picLocks noChangeAspect="1"/>
          </p:cNvPicPr>
          <p:nvPr/>
        </p:nvPicPr>
        <p:blipFill>
          <a:blip xmlns:r="http://schemas.openxmlformats.org/officeDocument/2006/relationships" r:embed="rId2"/>
          <a:stretch>
            <a:fillRect/>
          </a:stretch>
        </p:blipFill>
        <p:spPr>
          <a:xfrm>
            <a:off x="-1523962" y="634984"/>
            <a:ext cx="5714857" cy="5714857"/>
          </a:xfrm>
          <a:prstGeom prst="rect"/>
        </p:spPr>
      </p:pic>
      <p:pic>
        <p:nvPicPr>
          <p:cNvPr id="2097225" name="Image 2" descr="preencoded.png"/>
          <p:cNvPicPr>
            <a:picLocks noChangeAspect="1"/>
          </p:cNvPicPr>
          <p:nvPr/>
        </p:nvPicPr>
        <p:blipFill>
          <a:blip xmlns:r="http://schemas.openxmlformats.org/officeDocument/2006/relationships" r:embed="rId3"/>
          <a:stretch>
            <a:fillRect/>
          </a:stretch>
        </p:blipFill>
        <p:spPr>
          <a:xfrm>
            <a:off x="2920927" y="253994"/>
            <a:ext cx="6349841" cy="6349841"/>
          </a:xfrm>
          <a:prstGeom prst="rect"/>
        </p:spPr>
      </p:pic>
      <p:sp>
        <p:nvSpPr>
          <p:cNvPr id="1048728" name="Shape 0"/>
          <p:cNvSpPr/>
          <p:nvPr/>
        </p:nvSpPr>
        <p:spPr>
          <a:xfrm>
            <a:off x="1820182" y="3087926"/>
            <a:ext cx="8551331" cy="2209430"/>
          </a:xfrm>
          <a:prstGeom prst="roundRect">
            <a:avLst>
              <a:gd name="adj" fmla="val 9197"/>
            </a:avLst>
          </a:prstGeom>
          <a:solidFill>
            <a:srgbClr val="5B3FD6">
              <a:alpha val="7000"/>
            </a:srgbClr>
          </a:solidFill>
        </p:spPr>
      </p:sp>
      <p:pic>
        <p:nvPicPr>
          <p:cNvPr id="2097226" name="Image 3" descr="preencoded.png"/>
          <p:cNvPicPr>
            <a:picLocks noChangeAspect="1"/>
          </p:cNvPicPr>
          <p:nvPr/>
        </p:nvPicPr>
        <p:blipFill>
          <a:blip xmlns:r="http://schemas.openxmlformats.org/officeDocument/2006/relationships" r:embed="rId4"/>
          <a:stretch>
            <a:fillRect/>
          </a:stretch>
        </p:blipFill>
        <p:spPr>
          <a:xfrm>
            <a:off x="0" y="4571886"/>
            <a:ext cx="12145975" cy="2240394"/>
          </a:xfrm>
          <a:prstGeom prst="rect"/>
        </p:spPr>
      </p:pic>
      <p:pic>
        <p:nvPicPr>
          <p:cNvPr id="2097227" name="Image 4" descr="preencoded.png"/>
          <p:cNvPicPr>
            <a:picLocks noChangeAspect="1"/>
          </p:cNvPicPr>
          <p:nvPr/>
        </p:nvPicPr>
        <p:blipFill>
          <a:blip xmlns:r="http://schemas.openxmlformats.org/officeDocument/2006/relationships" r:embed="rId5"/>
          <a:stretch>
            <a:fillRect/>
          </a:stretch>
        </p:blipFill>
        <p:spPr>
          <a:xfrm>
            <a:off x="0" y="0"/>
            <a:ext cx="12145975" cy="2285943"/>
          </a:xfrm>
          <a:prstGeom prst="rect"/>
        </p:spPr>
      </p:pic>
      <p:pic>
        <p:nvPicPr>
          <p:cNvPr id="2097228" name="Image 5" descr="preencoded.png"/>
          <p:cNvPicPr>
            <a:picLocks noChangeAspect="1"/>
          </p:cNvPicPr>
          <p:nvPr/>
        </p:nvPicPr>
        <p:blipFill>
          <a:blip xmlns:r="http://schemas.openxmlformats.org/officeDocument/2006/relationships" r:embed="rId6"/>
          <a:stretch>
            <a:fillRect/>
          </a:stretch>
        </p:blipFill>
        <p:spPr>
          <a:xfrm>
            <a:off x="8889778" y="3555911"/>
            <a:ext cx="2285943" cy="2285943"/>
          </a:xfrm>
          <a:prstGeom prst="rect"/>
        </p:spPr>
      </p:pic>
      <p:pic>
        <p:nvPicPr>
          <p:cNvPr id="2097229" name="Image 6" descr="preencoded.png"/>
          <p:cNvPicPr>
            <a:picLocks noChangeAspect="1"/>
          </p:cNvPicPr>
          <p:nvPr/>
        </p:nvPicPr>
        <p:blipFill>
          <a:blip xmlns:r="http://schemas.openxmlformats.org/officeDocument/2006/relationships" r:embed="rId7"/>
          <a:stretch>
            <a:fillRect/>
          </a:stretch>
        </p:blipFill>
        <p:spPr>
          <a:xfrm>
            <a:off x="1015975" y="3555911"/>
            <a:ext cx="2285943" cy="2285943"/>
          </a:xfrm>
          <a:prstGeom prst="rect"/>
        </p:spPr>
      </p:pic>
      <p:pic>
        <p:nvPicPr>
          <p:cNvPr id="2097230" name="Image 7" descr="preencoded.png"/>
          <p:cNvPicPr>
            <a:picLocks noChangeAspect="1"/>
          </p:cNvPicPr>
          <p:nvPr/>
        </p:nvPicPr>
        <p:blipFill>
          <a:blip xmlns:r="http://schemas.openxmlformats.org/officeDocument/2006/relationships" r:embed="rId8"/>
          <a:stretch>
            <a:fillRect/>
          </a:stretch>
        </p:blipFill>
        <p:spPr>
          <a:xfrm>
            <a:off x="8889778" y="1015975"/>
            <a:ext cx="2285943" cy="2285943"/>
          </a:xfrm>
          <a:prstGeom prst="rect"/>
        </p:spPr>
      </p:pic>
      <p:pic>
        <p:nvPicPr>
          <p:cNvPr id="2097231" name="Image 8" descr="preencoded.png"/>
          <p:cNvPicPr>
            <a:picLocks noChangeAspect="1"/>
          </p:cNvPicPr>
          <p:nvPr/>
        </p:nvPicPr>
        <p:blipFill>
          <a:blip xmlns:r="http://schemas.openxmlformats.org/officeDocument/2006/relationships" r:embed="rId9"/>
          <a:stretch>
            <a:fillRect/>
          </a:stretch>
        </p:blipFill>
        <p:spPr>
          <a:xfrm>
            <a:off x="1015975" y="1015975"/>
            <a:ext cx="2285943" cy="2285943"/>
          </a:xfrm>
          <a:prstGeom prst="rect"/>
        </p:spPr>
      </p:pic>
      <p:pic>
        <p:nvPicPr>
          <p:cNvPr id="2097232" name="Image 9" descr="preencoded.png"/>
          <p:cNvPicPr>
            <a:picLocks noChangeAspect="1"/>
          </p:cNvPicPr>
          <p:nvPr/>
        </p:nvPicPr>
        <p:blipFill>
          <a:blip xmlns:r="http://schemas.openxmlformats.org/officeDocument/2006/relationships" r:embed="rId10"/>
          <a:stretch>
            <a:fillRect/>
          </a:stretch>
        </p:blipFill>
        <p:spPr>
          <a:xfrm>
            <a:off x="4190895" y="5206870"/>
            <a:ext cx="3809905" cy="63498"/>
          </a:xfrm>
          <a:prstGeom prst="rect"/>
        </p:spPr>
      </p:pic>
      <p:pic>
        <p:nvPicPr>
          <p:cNvPr id="2097233" name="Image 10" descr="preencoded.png"/>
          <p:cNvPicPr>
            <a:picLocks noChangeAspect="1"/>
          </p:cNvPicPr>
          <p:nvPr/>
        </p:nvPicPr>
        <p:blipFill>
          <a:blip xmlns:r="http://schemas.openxmlformats.org/officeDocument/2006/relationships" r:embed="rId11"/>
          <a:stretch>
            <a:fillRect/>
          </a:stretch>
        </p:blipFill>
        <p:spPr>
          <a:xfrm>
            <a:off x="4190895" y="2095448"/>
            <a:ext cx="3809905" cy="63498"/>
          </a:xfrm>
          <a:prstGeom prst="rect"/>
        </p:spPr>
      </p:pic>
      <p:sp>
        <p:nvSpPr>
          <p:cNvPr id="1048729" name="Text 1"/>
          <p:cNvSpPr/>
          <p:nvPr/>
        </p:nvSpPr>
        <p:spPr>
          <a:xfrm>
            <a:off x="5190836" y="2195458"/>
            <a:ext cx="1810022" cy="396706"/>
          </a:xfrm>
          <a:prstGeom prst="rect"/>
          <a:noFill/>
        </p:spPr>
        <p:txBody>
          <a:bodyPr anchor="t" bIns="1016" lIns="1016" rIns="1016" rtlCol="0" tIns="1016" wrap="square"/>
          <a:p>
            <a:pPr algn="ctr" indent="0" marL="0">
              <a:lnSpc>
                <a:spcPct val="120186"/>
              </a:lnSpc>
              <a:buNone/>
            </a:pPr>
            <a:r>
              <a:rPr b="1" dirty="0" sz="2300" lang="en-US">
                <a:solidFill>
                  <a:srgbClr val="2B3150"/>
                </a:solidFill>
                <a:latin typeface="Segoe UI" pitchFamily="34" charset="0"/>
                <a:ea typeface="Segoe UI" pitchFamily="34" charset="-122"/>
                <a:cs typeface="Segoe UI" pitchFamily="34" charset="-120"/>
              </a:rPr>
              <a:t>Conclusion
</a:t>
            </a:r>
            <a:endParaRPr dirty="0" sz="2300" lang="en-US"/>
          </a:p>
        </p:txBody>
      </p:sp>
      <p:sp>
        <p:nvSpPr>
          <p:cNvPr id="1048730" name="Text 2"/>
          <p:cNvSpPr/>
          <p:nvPr/>
        </p:nvSpPr>
        <p:spPr>
          <a:xfrm>
            <a:off x="2245621" y="3396534"/>
            <a:ext cx="7751251" cy="1592226"/>
          </a:xfrm>
          <a:prstGeom prst="rect"/>
          <a:noFill/>
        </p:spPr>
        <p:txBody>
          <a:bodyPr anchor="t" bIns="1016" lIns="1016" rIns="1016" rtlCol="0" tIns="1016" wrap="square"/>
          <a:p>
            <a:pPr algn="l" indent="0" marL="0">
              <a:lnSpc>
                <a:spcPct val="167237"/>
              </a:lnSpc>
              <a:buNone/>
            </a:pPr>
            <a:r>
              <a:rPr dirty="0" sz="1400" lang="en-US">
                <a:solidFill>
                  <a:srgbClr val="454B63"/>
                </a:solidFill>
                <a:latin typeface="Segoe UI" pitchFamily="34" charset="0"/>
                <a:ea typeface="Segoe UI" pitchFamily="34" charset="-122"/>
                <a:cs typeface="Segoe UI" pitchFamily="34" charset="-120"/>
              </a:rPr>
              <a:t>This internship has solidified my skills in data transformation and visualization using Power BI. Key takeaways include mastering data cleansing, applying DAX for analytics, and creating impactful dashboards. Moving forward, I aim to leverage these insights in real-world applications, enhancing decision-making processes and driving data-driven strategies in organizations.
</a:t>
            </a:r>
            <a:endParaRPr dirty="0" sz="1400" lang="en-US"/>
          </a:p>
        </p:txBody>
      </p:sp>
      <p:sp>
        <p:nvSpPr>
          <p:cNvPr id="1048731" name="Shape 3"/>
          <p:cNvSpPr/>
          <p:nvPr/>
        </p:nvSpPr>
        <p:spPr>
          <a:xfrm>
            <a:off x="5787245" y="2812505"/>
            <a:ext cx="617205" cy="55091"/>
          </a:xfrm>
          <a:prstGeom prst="ellipse"/>
          <a:solidFill>
            <a:srgbClr val="5B3FD6"/>
          </a:solidFill>
        </p:spPr>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Microsoft Office PowerPoint</Application>
  <ScaleCrop>0</ScaleCrop>
  <Company>PptxGenJS</Company>
  <LinksUpToDate>0</LinksUpToDate>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PptxGenJS Presentation</dc:title>
  <dc:creator>PptxGenJS</dc:creator>
  <cp:lastModifiedBy>varsha varshini</cp:lastModifiedBy>
  <dcterms:created xsi:type="dcterms:W3CDTF">2026-10-09T04:56:20Z</dcterms:created>
  <dcterms:modified xsi:type="dcterms:W3CDTF">2026-10-10T05:42:00Z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4a310b8c253a4813973df4fd327e6b43_23</vt:lpwstr>
  </property>
</Properties>
</file>